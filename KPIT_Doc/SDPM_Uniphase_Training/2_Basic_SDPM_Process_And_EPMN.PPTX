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2"/>
    <p:sldMasterId id="2147483690" r:id="rId3"/>
  </p:sldMasterIdLst>
  <p:notesMasterIdLst>
    <p:notesMasterId r:id="rId49"/>
  </p:notesMasterIdLst>
  <p:sldIdLst>
    <p:sldId id="257" r:id="rId4"/>
    <p:sldId id="266" r:id="rId5"/>
    <p:sldId id="258" r:id="rId6"/>
    <p:sldId id="268" r:id="rId7"/>
    <p:sldId id="270" r:id="rId8"/>
    <p:sldId id="271" r:id="rId9"/>
    <p:sldId id="272" r:id="rId10"/>
    <p:sldId id="273" r:id="rId11"/>
    <p:sldId id="276" r:id="rId12"/>
    <p:sldId id="277" r:id="rId13"/>
    <p:sldId id="274" r:id="rId14"/>
    <p:sldId id="275" r:id="rId15"/>
    <p:sldId id="278" r:id="rId16"/>
    <p:sldId id="279" r:id="rId17"/>
    <p:sldId id="280" r:id="rId18"/>
    <p:sldId id="282" r:id="rId19"/>
    <p:sldId id="301" r:id="rId20"/>
    <p:sldId id="281" r:id="rId21"/>
    <p:sldId id="283" r:id="rId22"/>
    <p:sldId id="284" r:id="rId23"/>
    <p:sldId id="285" r:id="rId24"/>
    <p:sldId id="286" r:id="rId25"/>
    <p:sldId id="288" r:id="rId26"/>
    <p:sldId id="287" r:id="rId27"/>
    <p:sldId id="302" r:id="rId28"/>
    <p:sldId id="289" r:id="rId29"/>
    <p:sldId id="303" r:id="rId30"/>
    <p:sldId id="290" r:id="rId31"/>
    <p:sldId id="304" r:id="rId32"/>
    <p:sldId id="292" r:id="rId33"/>
    <p:sldId id="291" r:id="rId34"/>
    <p:sldId id="293" r:id="rId35"/>
    <p:sldId id="294" r:id="rId36"/>
    <p:sldId id="305" r:id="rId37"/>
    <p:sldId id="295" r:id="rId38"/>
    <p:sldId id="306" r:id="rId39"/>
    <p:sldId id="296" r:id="rId40"/>
    <p:sldId id="307" r:id="rId41"/>
    <p:sldId id="298" r:id="rId42"/>
    <p:sldId id="297" r:id="rId43"/>
    <p:sldId id="299" r:id="rId44"/>
    <p:sldId id="308" r:id="rId45"/>
    <p:sldId id="309" r:id="rId46"/>
    <p:sldId id="310" r:id="rId47"/>
    <p:sldId id="256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wad Ali" initials="JA" lastIdx="0" clrIdx="0">
    <p:extLst>
      <p:ext uri="{19B8F6BF-5375-455C-9EA6-DF929625EA0E}">
        <p15:presenceInfo xmlns:p15="http://schemas.microsoft.com/office/powerpoint/2012/main" userId="S-1-5-21-117609710-1229272821-682003330-1208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80" autoAdjust="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14C62-79DD-44F3-A177-C8137E6E9638}" type="datetimeFigureOut">
              <a:rPr lang="en-US" smtClean="0"/>
              <a:t>1/7/2020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A2904-B656-4D97-B28C-5912A331B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2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A2904-B656-4D97-B28C-5912A331B81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83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DCB328-0448-444B-8286-EB6BC719C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125" y="600"/>
            <a:ext cx="7000875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4909930" y="2223652"/>
            <a:ext cx="2514600" cy="1592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4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81018-9257-4330-ACBD-1BA79AA27977}"/>
              </a:ext>
            </a:extLst>
          </p:cNvPr>
          <p:cNvSpPr/>
          <p:nvPr/>
        </p:nvSpPr>
        <p:spPr>
          <a:xfrm>
            <a:off x="3793657" y="600"/>
            <a:ext cx="2514600" cy="993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8D1809-26DB-4EAB-B9FE-A9F69EA3676B}"/>
              </a:ext>
            </a:extLst>
          </p:cNvPr>
          <p:cNvGrpSpPr/>
          <p:nvPr/>
        </p:nvGrpSpPr>
        <p:grpSpPr>
          <a:xfrm>
            <a:off x="493776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4E08BE1-618C-49D8-B7EF-C3C543F809DA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3BF6B8-D820-4EF1-9D81-6550D585FB39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045D3C-8236-4AEA-9D24-B742D74089AF}"/>
              </a:ext>
            </a:extLst>
          </p:cNvPr>
          <p:cNvGrpSpPr/>
          <p:nvPr/>
        </p:nvGrpSpPr>
        <p:grpSpPr>
          <a:xfrm>
            <a:off x="493776" y="668337"/>
            <a:ext cx="1833583" cy="527240"/>
            <a:chOff x="522288" y="496888"/>
            <a:chExt cx="866775" cy="24923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9A4EA13-CF31-48DE-96E1-28BADD2F2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5A1E693-B34D-4A8B-9209-B9B03E4A1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6B23526B-DCF2-4446-A8DF-97A4358555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55C3E40B-FD7B-49C5-A50A-33AFAB8ED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20ABD8C8-DA77-4033-9AF1-7EBB5B37E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87159288-A5ED-4305-8773-CBBE6AB13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E911FE1-C30B-4515-9D04-46BD2D05B22A}"/>
              </a:ext>
            </a:extLst>
          </p:cNvPr>
          <p:cNvSpPr/>
          <p:nvPr/>
        </p:nvSpPr>
        <p:spPr>
          <a:xfrm>
            <a:off x="493776" y="6467265"/>
            <a:ext cx="763119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Restricted and Confidential © KPIT Technologies Limited</a:t>
            </a:r>
          </a:p>
        </p:txBody>
      </p:sp>
    </p:spTree>
    <p:extLst>
      <p:ext uri="{BB962C8B-B14F-4D97-AF65-F5344CB8AC3E}">
        <p14:creationId xmlns:p14="http://schemas.microsoft.com/office/powerpoint/2010/main" val="123203554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E5128EA-BBAF-4023-98C3-463242CBD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8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8" y="2404367"/>
            <a:ext cx="6996402" cy="1720372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/>
        </p:nvGrpSpPr>
        <p:grpSpPr>
          <a:xfrm>
            <a:off x="537458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003E77-5EC9-4043-82E6-DA753DA68411}"/>
              </a:ext>
            </a:extLst>
          </p:cNvPr>
          <p:cNvGrpSpPr/>
          <p:nvPr/>
        </p:nvGrpSpPr>
        <p:grpSpPr>
          <a:xfrm>
            <a:off x="537458" y="674944"/>
            <a:ext cx="1833583" cy="527240"/>
            <a:chOff x="522288" y="496888"/>
            <a:chExt cx="866775" cy="249238"/>
          </a:xfrm>
          <a:solidFill>
            <a:schemeClr val="accent2"/>
          </a:soli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D171461C-7E11-4727-BC70-1A3E99B78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DCB1985-1E91-4176-A736-EDBF686BA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BA7B760-C9CC-4119-BE9E-1F211E9518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9D52E03-D7AD-4990-8226-88567044F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D48C1F2-89B1-4202-8201-04D58C387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83419930-EB06-420C-9C85-6453A218E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71FC-C739-40DE-87BC-E4F3042C1071}"/>
              </a:ext>
            </a:extLst>
          </p:cNvPr>
          <p:cNvSpPr/>
          <p:nvPr/>
        </p:nvSpPr>
        <p:spPr>
          <a:xfrm>
            <a:off x="493776" y="6467265"/>
            <a:ext cx="763119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Restricted and Confidential © KPIT Technologies Limited</a:t>
            </a:r>
          </a:p>
        </p:txBody>
      </p:sp>
    </p:spTree>
    <p:extLst>
      <p:ext uri="{BB962C8B-B14F-4D97-AF65-F5344CB8AC3E}">
        <p14:creationId xmlns:p14="http://schemas.microsoft.com/office/powerpoint/2010/main" val="1890788806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_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38D46C-1FA0-4C20-A3A5-A71F44DAB3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525" y="0"/>
            <a:ext cx="12192000" cy="6858000"/>
          </a:xfr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C14F98-EB08-4070-A49C-A8A25D76B6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9" y="4305453"/>
            <a:ext cx="4356100" cy="309562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9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8689DB-B785-49A9-AB8C-93EE999D1347}"/>
              </a:ext>
            </a:extLst>
          </p:cNvPr>
          <p:cNvSpPr/>
          <p:nvPr/>
        </p:nvSpPr>
        <p:spPr>
          <a:xfrm>
            <a:off x="493776" y="6467265"/>
            <a:ext cx="763119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Restricted and Confidential © KPIT Technologies Limited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1AD4D3-4C56-4303-9B18-52BE03F03CC2}"/>
              </a:ext>
            </a:extLst>
          </p:cNvPr>
          <p:cNvGrpSpPr/>
          <p:nvPr/>
        </p:nvGrpSpPr>
        <p:grpSpPr>
          <a:xfrm>
            <a:off x="604133" y="668337"/>
            <a:ext cx="1833583" cy="527240"/>
            <a:chOff x="522288" y="496888"/>
            <a:chExt cx="866775" cy="249238"/>
          </a:xfrm>
          <a:solidFill>
            <a:schemeClr val="accent2"/>
          </a:soli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5FA368C5-6B37-4DBF-B1E4-B08B7E92B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1E72F09F-AB21-4C65-AAC3-A0C79B66D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85C5989-ABE5-491E-93D7-44A3B2D645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39565B57-B8FA-4276-BE93-A2258A0ED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239CD9DD-7120-44CA-9B57-A566DE5C7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B9BD510-EF59-475E-ACF0-5C277E7D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033911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04751" y="2817264"/>
            <a:ext cx="5245824" cy="1476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D586E-F233-48FE-A780-BB4D0BED1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896" y="4383088"/>
            <a:ext cx="5243679" cy="367816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DFC6F-3286-4A3D-A782-EF139340A1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1" y="464694"/>
            <a:ext cx="1727322" cy="49746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EC59FC-5B03-4C36-8F02-EC7C8CA3E1A5}"/>
              </a:ext>
            </a:extLst>
          </p:cNvPr>
          <p:cNvSpPr/>
          <p:nvPr/>
        </p:nvSpPr>
        <p:spPr>
          <a:xfrm>
            <a:off x="455676" y="6467265"/>
            <a:ext cx="570699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Restricted and Confidential © KPIT Technologies Limited</a:t>
            </a:r>
          </a:p>
        </p:txBody>
      </p:sp>
    </p:spTree>
    <p:extLst>
      <p:ext uri="{BB962C8B-B14F-4D97-AF65-F5344CB8AC3E}">
        <p14:creationId xmlns:p14="http://schemas.microsoft.com/office/powerpoint/2010/main" val="2619209369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0475" y="2867025"/>
            <a:ext cx="5238750" cy="68580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7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C594177-F99A-4662-8440-E0841141092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40475" y="3642450"/>
            <a:ext cx="5248275" cy="487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3519651-5666-4FFC-BC6B-5AF65EDD66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2" y="0"/>
            <a:ext cx="5839171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0912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2A9D9-DED4-468E-8975-E00B03835C5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12149842" cy="6794228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878136" y="1737659"/>
            <a:ext cx="1081634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97BB7-0400-4F5F-B75B-E08643B2110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F71E9-F7CE-4E64-AEEB-C5CAA1C4C9C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4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6FA90-FF74-470B-B12B-CCFE0A47C2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A6C1496-D3BB-44FC-8641-67859A3E926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78136" y="2537878"/>
            <a:ext cx="10816343" cy="4875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0933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6327-B295-4C1E-A217-56C6F795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07C7EE-2039-4F7B-9C73-8A1A7A829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7F67E-3713-4C0F-9EC5-95885A4F8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D0BDF-7729-4F17-84E9-C6D7082F662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56354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FF06-EAB8-4583-BF16-8E940DC4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622C6-979F-4152-8A15-8FAA2898C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407BD-0EA2-4F5D-B431-766121F9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8375F-4EAD-44F9-BF41-00612320FB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583C099-E1EE-4D8F-BD9F-C7BBEDC862F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184" y="536183"/>
            <a:ext cx="11860891" cy="487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932815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1990-8229-44A4-9C8B-E4D1D615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2AEB6C3-AEDF-438B-80B9-AA0E5C5FA88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184" y="536183"/>
            <a:ext cx="11860891" cy="487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D138F73-380E-4BB4-BA85-1FC2AF5F1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9184" y="1136347"/>
            <a:ext cx="11860891" cy="50168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9142F3-4B55-4718-91C2-7FFE28E838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3FFBD87-8C72-4090-8F59-D12235D3C9B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C22071A-80A9-41D1-8B5C-4C2C821B906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50266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033569-D23E-4B18-84CA-33E3328115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6575" y="12700"/>
            <a:ext cx="5262563" cy="67818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D43AC-BCAC-4225-BB9A-ED44D955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84" y="12219"/>
            <a:ext cx="671739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7BDF243-1834-4B13-A0D9-E66F926BE24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184" y="536183"/>
            <a:ext cx="6717391" cy="487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F75774-D578-4FFA-B8EB-ECECE5E8B6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9185" y="1136347"/>
            <a:ext cx="5945866" cy="50168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215BEF5-869F-4C53-AC57-FA1FA9236A7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9004B6-14A4-416F-AD1A-CDFB3FE35F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7F89A99-8E7A-4BC8-9AB1-D7CCDCF375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58973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B7A07-15CA-4CDD-BC89-313E4F59B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69CFD-9E8B-424D-903A-1529F9B9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1F21C-7673-4CE2-A4DF-B2798C3FEC9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35728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61A2FF-FFCE-41A7-8930-BC022759B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0593B-2568-41B0-94B2-EAEB8D18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D25E7-F582-4418-B99B-AE9EFB5ECBC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969FA6-C2DF-48C2-B109-4506D47C695E}"/>
              </a:ext>
            </a:extLst>
          </p:cNvPr>
          <p:cNvSpPr txBox="1">
            <a:spLocks/>
          </p:cNvSpPr>
          <p:nvPr/>
        </p:nvSpPr>
        <p:spPr>
          <a:xfrm>
            <a:off x="537460" y="426425"/>
            <a:ext cx="5245824" cy="59730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spc="-2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Contact me</a:t>
            </a:r>
            <a:endParaRPr lang="en-US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BED8B5CE-3AE0-4118-AB7A-F0CE6B7A90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023731"/>
            <a:ext cx="5258610" cy="4929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&lt;Name goes here&gt;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67540-1614-437D-9A75-6ACFB25C862E}"/>
              </a:ext>
            </a:extLst>
          </p:cNvPr>
          <p:cNvSpPr txBox="1"/>
          <p:nvPr/>
        </p:nvSpPr>
        <p:spPr>
          <a:xfrm>
            <a:off x="1939620" y="1860681"/>
            <a:ext cx="32705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Email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2B8493-E7BB-452A-B1F1-E3A32BCC2861}"/>
              </a:ext>
            </a:extLst>
          </p:cNvPr>
          <p:cNvSpPr txBox="1"/>
          <p:nvPr/>
        </p:nvSpPr>
        <p:spPr>
          <a:xfrm>
            <a:off x="1939620" y="2814341"/>
            <a:ext cx="32705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Phone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BB731-A073-47BA-8DD7-3555805CEDD4}"/>
              </a:ext>
            </a:extLst>
          </p:cNvPr>
          <p:cNvSpPr txBox="1"/>
          <p:nvPr/>
        </p:nvSpPr>
        <p:spPr>
          <a:xfrm>
            <a:off x="1939619" y="3768001"/>
            <a:ext cx="32705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Facebook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7B86FA-0CE8-42AE-91D4-71433AF433A0}"/>
              </a:ext>
            </a:extLst>
          </p:cNvPr>
          <p:cNvSpPr txBox="1"/>
          <p:nvPr/>
        </p:nvSpPr>
        <p:spPr>
          <a:xfrm>
            <a:off x="1939618" y="4718803"/>
            <a:ext cx="32705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Website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B7A18F-CCC0-455F-AB31-E8C0C24F04F3}"/>
              </a:ext>
            </a:extLst>
          </p:cNvPr>
          <p:cNvSpPr txBox="1"/>
          <p:nvPr/>
        </p:nvSpPr>
        <p:spPr>
          <a:xfrm>
            <a:off x="1939617" y="4977488"/>
            <a:ext cx="32705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www.kpit.com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AB6859-2B46-4845-A346-63846CE68001}"/>
              </a:ext>
            </a:extLst>
          </p:cNvPr>
          <p:cNvGrpSpPr>
            <a:grpSpLocks noChangeAspect="1"/>
          </p:cNvGrpSpPr>
          <p:nvPr/>
        </p:nvGrpSpPr>
        <p:grpSpPr>
          <a:xfrm>
            <a:off x="631849" y="1687799"/>
            <a:ext cx="947338" cy="947338"/>
            <a:chOff x="1315586" y="1656000"/>
            <a:chExt cx="947338" cy="94733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9DA1C26-4A04-4C38-9611-38A5EC2B35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15586" y="1656000"/>
              <a:ext cx="947338" cy="947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173">
              <a:extLst>
                <a:ext uri="{FF2B5EF4-FFF2-40B4-BE49-F238E27FC236}">
                  <a16:creationId xmlns:a16="http://schemas.microsoft.com/office/drawing/2014/main" id="{1F9516E0-8EE6-4E23-A12E-8B8C0C0FA6A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494055" y="1908513"/>
              <a:ext cx="590400" cy="442313"/>
            </a:xfrm>
            <a:custGeom>
              <a:avLst/>
              <a:gdLst>
                <a:gd name="T0" fmla="*/ 751 w 751"/>
                <a:gd name="T1" fmla="*/ 510 h 564"/>
                <a:gd name="T2" fmla="*/ 697 w 751"/>
                <a:gd name="T3" fmla="*/ 564 h 564"/>
                <a:gd name="T4" fmla="*/ 643 w 751"/>
                <a:gd name="T5" fmla="*/ 510 h 564"/>
                <a:gd name="T6" fmla="*/ 697 w 751"/>
                <a:gd name="T7" fmla="*/ 456 h 564"/>
                <a:gd name="T8" fmla="*/ 751 w 751"/>
                <a:gd name="T9" fmla="*/ 510 h 564"/>
                <a:gd name="T10" fmla="*/ 751 w 751"/>
                <a:gd name="T11" fmla="*/ 0 h 564"/>
                <a:gd name="T12" fmla="*/ 751 w 751"/>
                <a:gd name="T13" fmla="*/ 374 h 564"/>
                <a:gd name="T14" fmla="*/ 643 w 751"/>
                <a:gd name="T15" fmla="*/ 374 h 564"/>
                <a:gd name="T16" fmla="*/ 643 w 751"/>
                <a:gd name="T17" fmla="*/ 160 h 564"/>
                <a:gd name="T18" fmla="*/ 375 w 751"/>
                <a:gd name="T19" fmla="*/ 349 h 564"/>
                <a:gd name="T20" fmla="*/ 108 w 751"/>
                <a:gd name="T21" fmla="*/ 160 h 564"/>
                <a:gd name="T22" fmla="*/ 108 w 751"/>
                <a:gd name="T23" fmla="*/ 456 h 564"/>
                <a:gd name="T24" fmla="*/ 565 w 751"/>
                <a:gd name="T25" fmla="*/ 456 h 564"/>
                <a:gd name="T26" fmla="*/ 565 w 751"/>
                <a:gd name="T27" fmla="*/ 564 h 564"/>
                <a:gd name="T28" fmla="*/ 0 w 751"/>
                <a:gd name="T29" fmla="*/ 564 h 564"/>
                <a:gd name="T30" fmla="*/ 0 w 751"/>
                <a:gd name="T31" fmla="*/ 0 h 564"/>
                <a:gd name="T32" fmla="*/ 751 w 751"/>
                <a:gd name="T33" fmla="*/ 0 h 564"/>
                <a:gd name="T34" fmla="*/ 375 w 751"/>
                <a:gd name="T35" fmla="*/ 217 h 564"/>
                <a:gd name="T36" fmla="*/ 529 w 751"/>
                <a:gd name="T37" fmla="*/ 108 h 564"/>
                <a:gd name="T38" fmla="*/ 222 w 751"/>
                <a:gd name="T39" fmla="*/ 108 h 564"/>
                <a:gd name="T40" fmla="*/ 375 w 751"/>
                <a:gd name="T41" fmla="*/ 217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51" h="564">
                  <a:moveTo>
                    <a:pt x="751" y="510"/>
                  </a:moveTo>
                  <a:cubicBezTo>
                    <a:pt x="751" y="540"/>
                    <a:pt x="727" y="564"/>
                    <a:pt x="697" y="564"/>
                  </a:cubicBezTo>
                  <a:cubicBezTo>
                    <a:pt x="667" y="564"/>
                    <a:pt x="643" y="540"/>
                    <a:pt x="643" y="510"/>
                  </a:cubicBezTo>
                  <a:cubicBezTo>
                    <a:pt x="643" y="480"/>
                    <a:pt x="667" y="456"/>
                    <a:pt x="697" y="456"/>
                  </a:cubicBezTo>
                  <a:cubicBezTo>
                    <a:pt x="727" y="456"/>
                    <a:pt x="751" y="480"/>
                    <a:pt x="751" y="510"/>
                  </a:cubicBezTo>
                  <a:close/>
                  <a:moveTo>
                    <a:pt x="751" y="0"/>
                  </a:moveTo>
                  <a:cubicBezTo>
                    <a:pt x="751" y="374"/>
                    <a:pt x="751" y="374"/>
                    <a:pt x="751" y="374"/>
                  </a:cubicBezTo>
                  <a:cubicBezTo>
                    <a:pt x="643" y="374"/>
                    <a:pt x="643" y="374"/>
                    <a:pt x="643" y="374"/>
                  </a:cubicBezTo>
                  <a:cubicBezTo>
                    <a:pt x="643" y="160"/>
                    <a:pt x="643" y="160"/>
                    <a:pt x="643" y="160"/>
                  </a:cubicBezTo>
                  <a:cubicBezTo>
                    <a:pt x="375" y="349"/>
                    <a:pt x="375" y="349"/>
                    <a:pt x="375" y="349"/>
                  </a:cubicBezTo>
                  <a:cubicBezTo>
                    <a:pt x="108" y="160"/>
                    <a:pt x="108" y="160"/>
                    <a:pt x="108" y="160"/>
                  </a:cubicBezTo>
                  <a:cubicBezTo>
                    <a:pt x="108" y="456"/>
                    <a:pt x="108" y="456"/>
                    <a:pt x="108" y="456"/>
                  </a:cubicBezTo>
                  <a:cubicBezTo>
                    <a:pt x="565" y="456"/>
                    <a:pt x="565" y="456"/>
                    <a:pt x="565" y="456"/>
                  </a:cubicBezTo>
                  <a:cubicBezTo>
                    <a:pt x="565" y="564"/>
                    <a:pt x="565" y="564"/>
                    <a:pt x="565" y="564"/>
                  </a:cubicBezTo>
                  <a:cubicBezTo>
                    <a:pt x="0" y="564"/>
                    <a:pt x="0" y="564"/>
                    <a:pt x="0" y="564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751" y="0"/>
                  </a:lnTo>
                  <a:close/>
                  <a:moveTo>
                    <a:pt x="375" y="217"/>
                  </a:moveTo>
                  <a:cubicBezTo>
                    <a:pt x="529" y="108"/>
                    <a:pt x="529" y="108"/>
                    <a:pt x="529" y="108"/>
                  </a:cubicBezTo>
                  <a:cubicBezTo>
                    <a:pt x="222" y="108"/>
                    <a:pt x="222" y="108"/>
                    <a:pt x="222" y="108"/>
                  </a:cubicBezTo>
                  <a:lnTo>
                    <a:pt x="375" y="2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EBA854-9A58-45B3-A64D-37E7D319F237}"/>
              </a:ext>
            </a:extLst>
          </p:cNvPr>
          <p:cNvGrpSpPr>
            <a:grpSpLocks noChangeAspect="1"/>
          </p:cNvGrpSpPr>
          <p:nvPr/>
        </p:nvGrpSpPr>
        <p:grpSpPr>
          <a:xfrm>
            <a:off x="631849" y="2640630"/>
            <a:ext cx="947338" cy="947338"/>
            <a:chOff x="8458791" y="3197541"/>
            <a:chExt cx="947338" cy="94733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2A55A2E-03D6-404D-8770-78296BB48B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791" y="3197541"/>
              <a:ext cx="947338" cy="9473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175">
              <a:extLst>
                <a:ext uri="{FF2B5EF4-FFF2-40B4-BE49-F238E27FC236}">
                  <a16:creationId xmlns:a16="http://schemas.microsoft.com/office/drawing/2014/main" id="{9B560F6F-4643-4CE5-A1A6-C1881F391A9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740532" y="3376010"/>
              <a:ext cx="383857" cy="590400"/>
            </a:xfrm>
            <a:custGeom>
              <a:avLst/>
              <a:gdLst>
                <a:gd name="T0" fmla="*/ 434 w 488"/>
                <a:gd name="T1" fmla="*/ 0 h 752"/>
                <a:gd name="T2" fmla="*/ 54 w 488"/>
                <a:gd name="T3" fmla="*/ 0 h 752"/>
                <a:gd name="T4" fmla="*/ 0 w 488"/>
                <a:gd name="T5" fmla="*/ 54 h 752"/>
                <a:gd name="T6" fmla="*/ 0 w 488"/>
                <a:gd name="T7" fmla="*/ 698 h 752"/>
                <a:gd name="T8" fmla="*/ 54 w 488"/>
                <a:gd name="T9" fmla="*/ 752 h 752"/>
                <a:gd name="T10" fmla="*/ 434 w 488"/>
                <a:gd name="T11" fmla="*/ 752 h 752"/>
                <a:gd name="T12" fmla="*/ 488 w 488"/>
                <a:gd name="T13" fmla="*/ 698 h 752"/>
                <a:gd name="T14" fmla="*/ 488 w 488"/>
                <a:gd name="T15" fmla="*/ 54 h 752"/>
                <a:gd name="T16" fmla="*/ 434 w 488"/>
                <a:gd name="T17" fmla="*/ 0 h 752"/>
                <a:gd name="T18" fmla="*/ 380 w 488"/>
                <a:gd name="T19" fmla="*/ 644 h 752"/>
                <a:gd name="T20" fmla="*/ 300 w 488"/>
                <a:gd name="T21" fmla="*/ 644 h 752"/>
                <a:gd name="T22" fmla="*/ 244 w 488"/>
                <a:gd name="T23" fmla="*/ 597 h 752"/>
                <a:gd name="T24" fmla="*/ 188 w 488"/>
                <a:gd name="T25" fmla="*/ 644 h 752"/>
                <a:gd name="T26" fmla="*/ 108 w 488"/>
                <a:gd name="T27" fmla="*/ 644 h 752"/>
                <a:gd name="T28" fmla="*/ 108 w 488"/>
                <a:gd name="T29" fmla="*/ 108 h 752"/>
                <a:gd name="T30" fmla="*/ 380 w 488"/>
                <a:gd name="T31" fmla="*/ 108 h 752"/>
                <a:gd name="T32" fmla="*/ 380 w 488"/>
                <a:gd name="T33" fmla="*/ 644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8" h="752">
                  <a:moveTo>
                    <a:pt x="434" y="0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98"/>
                    <a:pt x="0" y="698"/>
                    <a:pt x="0" y="698"/>
                  </a:cubicBezTo>
                  <a:cubicBezTo>
                    <a:pt x="0" y="728"/>
                    <a:pt x="24" y="752"/>
                    <a:pt x="54" y="752"/>
                  </a:cubicBezTo>
                  <a:cubicBezTo>
                    <a:pt x="434" y="752"/>
                    <a:pt x="434" y="752"/>
                    <a:pt x="434" y="752"/>
                  </a:cubicBezTo>
                  <a:cubicBezTo>
                    <a:pt x="464" y="752"/>
                    <a:pt x="488" y="728"/>
                    <a:pt x="488" y="698"/>
                  </a:cubicBezTo>
                  <a:cubicBezTo>
                    <a:pt x="488" y="54"/>
                    <a:pt x="488" y="54"/>
                    <a:pt x="488" y="54"/>
                  </a:cubicBezTo>
                  <a:cubicBezTo>
                    <a:pt x="488" y="24"/>
                    <a:pt x="464" y="0"/>
                    <a:pt x="434" y="0"/>
                  </a:cubicBezTo>
                  <a:close/>
                  <a:moveTo>
                    <a:pt x="380" y="644"/>
                  </a:moveTo>
                  <a:cubicBezTo>
                    <a:pt x="300" y="644"/>
                    <a:pt x="300" y="644"/>
                    <a:pt x="300" y="644"/>
                  </a:cubicBezTo>
                  <a:cubicBezTo>
                    <a:pt x="295" y="617"/>
                    <a:pt x="272" y="597"/>
                    <a:pt x="244" y="597"/>
                  </a:cubicBezTo>
                  <a:cubicBezTo>
                    <a:pt x="216" y="597"/>
                    <a:pt x="193" y="617"/>
                    <a:pt x="188" y="644"/>
                  </a:cubicBezTo>
                  <a:cubicBezTo>
                    <a:pt x="108" y="644"/>
                    <a:pt x="108" y="644"/>
                    <a:pt x="108" y="644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380" y="108"/>
                    <a:pt x="380" y="108"/>
                    <a:pt x="380" y="108"/>
                  </a:cubicBezTo>
                  <a:lnTo>
                    <a:pt x="380" y="6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43C819E-BDCF-41DC-942A-2A0D4CA68014}"/>
              </a:ext>
            </a:extLst>
          </p:cNvPr>
          <p:cNvGrpSpPr>
            <a:grpSpLocks noChangeAspect="1"/>
          </p:cNvGrpSpPr>
          <p:nvPr/>
        </p:nvGrpSpPr>
        <p:grpSpPr>
          <a:xfrm>
            <a:off x="631849" y="3593461"/>
            <a:ext cx="947338" cy="947338"/>
            <a:chOff x="9887432" y="3197541"/>
            <a:chExt cx="947338" cy="94733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3171B04-478D-4D93-BE43-2BDF438995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7432" y="3197541"/>
              <a:ext cx="947338" cy="94733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174">
              <a:extLst>
                <a:ext uri="{FF2B5EF4-FFF2-40B4-BE49-F238E27FC236}">
                  <a16:creationId xmlns:a16="http://schemas.microsoft.com/office/drawing/2014/main" id="{2EB4EEDB-EA60-457C-9B30-19767E06AE3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0194839" y="3376010"/>
              <a:ext cx="332524" cy="590400"/>
            </a:xfrm>
            <a:custGeom>
              <a:avLst/>
              <a:gdLst>
                <a:gd name="T0" fmla="*/ 297 w 425"/>
                <a:gd name="T1" fmla="*/ 356 h 755"/>
                <a:gd name="T2" fmla="*/ 243 w 425"/>
                <a:gd name="T3" fmla="*/ 410 h 755"/>
                <a:gd name="T4" fmla="*/ 189 w 425"/>
                <a:gd name="T5" fmla="*/ 356 h 755"/>
                <a:gd name="T6" fmla="*/ 243 w 425"/>
                <a:gd name="T7" fmla="*/ 302 h 755"/>
                <a:gd name="T8" fmla="*/ 297 w 425"/>
                <a:gd name="T9" fmla="*/ 356 h 755"/>
                <a:gd name="T10" fmla="*/ 206 w 425"/>
                <a:gd name="T11" fmla="*/ 0 h 755"/>
                <a:gd name="T12" fmla="*/ 0 w 425"/>
                <a:gd name="T13" fmla="*/ 219 h 755"/>
                <a:gd name="T14" fmla="*/ 0 w 425"/>
                <a:gd name="T15" fmla="*/ 755 h 755"/>
                <a:gd name="T16" fmla="*/ 108 w 425"/>
                <a:gd name="T17" fmla="*/ 755 h 755"/>
                <a:gd name="T18" fmla="*/ 108 w 425"/>
                <a:gd name="T19" fmla="*/ 219 h 755"/>
                <a:gd name="T20" fmla="*/ 206 w 425"/>
                <a:gd name="T21" fmla="*/ 108 h 755"/>
                <a:gd name="T22" fmla="*/ 317 w 425"/>
                <a:gd name="T23" fmla="*/ 219 h 755"/>
                <a:gd name="T24" fmla="*/ 425 w 425"/>
                <a:gd name="T25" fmla="*/ 219 h 755"/>
                <a:gd name="T26" fmla="*/ 206 w 425"/>
                <a:gd name="T27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5" h="755">
                  <a:moveTo>
                    <a:pt x="297" y="356"/>
                  </a:moveTo>
                  <a:cubicBezTo>
                    <a:pt x="297" y="386"/>
                    <a:pt x="273" y="410"/>
                    <a:pt x="243" y="410"/>
                  </a:cubicBezTo>
                  <a:cubicBezTo>
                    <a:pt x="213" y="410"/>
                    <a:pt x="189" y="386"/>
                    <a:pt x="189" y="356"/>
                  </a:cubicBezTo>
                  <a:cubicBezTo>
                    <a:pt x="189" y="326"/>
                    <a:pt x="213" y="302"/>
                    <a:pt x="243" y="302"/>
                  </a:cubicBezTo>
                  <a:cubicBezTo>
                    <a:pt x="273" y="302"/>
                    <a:pt x="297" y="326"/>
                    <a:pt x="297" y="356"/>
                  </a:cubicBezTo>
                  <a:close/>
                  <a:moveTo>
                    <a:pt x="206" y="0"/>
                  </a:moveTo>
                  <a:cubicBezTo>
                    <a:pt x="88" y="0"/>
                    <a:pt x="0" y="94"/>
                    <a:pt x="0" y="219"/>
                  </a:cubicBezTo>
                  <a:cubicBezTo>
                    <a:pt x="0" y="755"/>
                    <a:pt x="0" y="755"/>
                    <a:pt x="0" y="755"/>
                  </a:cubicBezTo>
                  <a:cubicBezTo>
                    <a:pt x="108" y="755"/>
                    <a:pt x="108" y="755"/>
                    <a:pt x="108" y="755"/>
                  </a:cubicBezTo>
                  <a:cubicBezTo>
                    <a:pt x="108" y="219"/>
                    <a:pt x="108" y="219"/>
                    <a:pt x="108" y="219"/>
                  </a:cubicBezTo>
                  <a:cubicBezTo>
                    <a:pt x="108" y="165"/>
                    <a:pt x="138" y="108"/>
                    <a:pt x="206" y="108"/>
                  </a:cubicBezTo>
                  <a:cubicBezTo>
                    <a:pt x="267" y="108"/>
                    <a:pt x="317" y="158"/>
                    <a:pt x="317" y="219"/>
                  </a:cubicBezTo>
                  <a:cubicBezTo>
                    <a:pt x="425" y="219"/>
                    <a:pt x="425" y="219"/>
                    <a:pt x="425" y="219"/>
                  </a:cubicBezTo>
                  <a:cubicBezTo>
                    <a:pt x="425" y="98"/>
                    <a:pt x="327" y="0"/>
                    <a:pt x="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F263CFE-EB56-4585-B773-DDAE9E8C3FB5}"/>
              </a:ext>
            </a:extLst>
          </p:cNvPr>
          <p:cNvGrpSpPr>
            <a:grpSpLocks noChangeAspect="1"/>
          </p:cNvGrpSpPr>
          <p:nvPr/>
        </p:nvGrpSpPr>
        <p:grpSpPr>
          <a:xfrm>
            <a:off x="631849" y="4534861"/>
            <a:ext cx="947338" cy="947338"/>
            <a:chOff x="1315586" y="1656000"/>
            <a:chExt cx="947338" cy="94733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13F9DAC-7C9D-4B7B-AED1-A1BD5FE5C5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15586" y="1656000"/>
              <a:ext cx="947338" cy="947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 178">
              <a:extLst>
                <a:ext uri="{FF2B5EF4-FFF2-40B4-BE49-F238E27FC236}">
                  <a16:creationId xmlns:a16="http://schemas.microsoft.com/office/drawing/2014/main" id="{EED260E3-C097-4F8D-BF4B-8DA5B8D9692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494055" y="1834469"/>
              <a:ext cx="590400" cy="590400"/>
            </a:xfrm>
            <a:custGeom>
              <a:avLst/>
              <a:gdLst>
                <a:gd name="T0" fmla="*/ 643 w 751"/>
                <a:gd name="T1" fmla="*/ 376 h 752"/>
                <a:gd name="T2" fmla="*/ 643 w 751"/>
                <a:gd name="T3" fmla="*/ 108 h 752"/>
                <a:gd name="T4" fmla="*/ 108 w 751"/>
                <a:gd name="T5" fmla="*/ 108 h 752"/>
                <a:gd name="T6" fmla="*/ 108 w 751"/>
                <a:gd name="T7" fmla="*/ 454 h 752"/>
                <a:gd name="T8" fmla="*/ 564 w 751"/>
                <a:gd name="T9" fmla="*/ 454 h 752"/>
                <a:gd name="T10" fmla="*/ 564 w 751"/>
                <a:gd name="T11" fmla="*/ 562 h 752"/>
                <a:gd name="T12" fmla="*/ 0 w 751"/>
                <a:gd name="T13" fmla="*/ 562 h 752"/>
                <a:gd name="T14" fmla="*/ 0 w 751"/>
                <a:gd name="T15" fmla="*/ 0 h 752"/>
                <a:gd name="T16" fmla="*/ 751 w 751"/>
                <a:gd name="T17" fmla="*/ 0 h 752"/>
                <a:gd name="T18" fmla="*/ 751 w 751"/>
                <a:gd name="T19" fmla="*/ 376 h 752"/>
                <a:gd name="T20" fmla="*/ 643 w 751"/>
                <a:gd name="T21" fmla="*/ 376 h 752"/>
                <a:gd name="T22" fmla="*/ 185 w 751"/>
                <a:gd name="T23" fmla="*/ 752 h 752"/>
                <a:gd name="T24" fmla="*/ 564 w 751"/>
                <a:gd name="T25" fmla="*/ 752 h 752"/>
                <a:gd name="T26" fmla="*/ 564 w 751"/>
                <a:gd name="T27" fmla="*/ 644 h 752"/>
                <a:gd name="T28" fmla="*/ 185 w 751"/>
                <a:gd name="T29" fmla="*/ 644 h 752"/>
                <a:gd name="T30" fmla="*/ 185 w 751"/>
                <a:gd name="T31" fmla="*/ 752 h 752"/>
                <a:gd name="T32" fmla="*/ 697 w 751"/>
                <a:gd name="T33" fmla="*/ 454 h 752"/>
                <a:gd name="T34" fmla="*/ 643 w 751"/>
                <a:gd name="T35" fmla="*/ 508 h 752"/>
                <a:gd name="T36" fmla="*/ 697 w 751"/>
                <a:gd name="T37" fmla="*/ 562 h 752"/>
                <a:gd name="T38" fmla="*/ 751 w 751"/>
                <a:gd name="T39" fmla="*/ 508 h 752"/>
                <a:gd name="T40" fmla="*/ 697 w 751"/>
                <a:gd name="T41" fmla="*/ 454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51" h="752">
                  <a:moveTo>
                    <a:pt x="643" y="376"/>
                  </a:moveTo>
                  <a:cubicBezTo>
                    <a:pt x="643" y="108"/>
                    <a:pt x="643" y="108"/>
                    <a:pt x="643" y="108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8" y="454"/>
                    <a:pt x="108" y="454"/>
                    <a:pt x="108" y="454"/>
                  </a:cubicBezTo>
                  <a:cubicBezTo>
                    <a:pt x="564" y="454"/>
                    <a:pt x="564" y="454"/>
                    <a:pt x="564" y="454"/>
                  </a:cubicBezTo>
                  <a:cubicBezTo>
                    <a:pt x="564" y="562"/>
                    <a:pt x="564" y="562"/>
                    <a:pt x="564" y="562"/>
                  </a:cubicBezTo>
                  <a:cubicBezTo>
                    <a:pt x="0" y="562"/>
                    <a:pt x="0" y="562"/>
                    <a:pt x="0" y="56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51" y="0"/>
                    <a:pt x="751" y="0"/>
                    <a:pt x="751" y="0"/>
                  </a:cubicBezTo>
                  <a:cubicBezTo>
                    <a:pt x="751" y="376"/>
                    <a:pt x="751" y="376"/>
                    <a:pt x="751" y="376"/>
                  </a:cubicBezTo>
                  <a:lnTo>
                    <a:pt x="643" y="376"/>
                  </a:lnTo>
                  <a:close/>
                  <a:moveTo>
                    <a:pt x="185" y="752"/>
                  </a:moveTo>
                  <a:cubicBezTo>
                    <a:pt x="564" y="752"/>
                    <a:pt x="564" y="752"/>
                    <a:pt x="564" y="752"/>
                  </a:cubicBezTo>
                  <a:cubicBezTo>
                    <a:pt x="564" y="644"/>
                    <a:pt x="564" y="644"/>
                    <a:pt x="564" y="644"/>
                  </a:cubicBezTo>
                  <a:cubicBezTo>
                    <a:pt x="185" y="644"/>
                    <a:pt x="185" y="644"/>
                    <a:pt x="185" y="644"/>
                  </a:cubicBezTo>
                  <a:lnTo>
                    <a:pt x="185" y="752"/>
                  </a:lnTo>
                  <a:close/>
                  <a:moveTo>
                    <a:pt x="697" y="454"/>
                  </a:moveTo>
                  <a:cubicBezTo>
                    <a:pt x="667" y="454"/>
                    <a:pt x="643" y="478"/>
                    <a:pt x="643" y="508"/>
                  </a:cubicBezTo>
                  <a:cubicBezTo>
                    <a:pt x="643" y="538"/>
                    <a:pt x="667" y="562"/>
                    <a:pt x="697" y="562"/>
                  </a:cubicBezTo>
                  <a:cubicBezTo>
                    <a:pt x="726" y="562"/>
                    <a:pt x="751" y="538"/>
                    <a:pt x="751" y="508"/>
                  </a:cubicBezTo>
                  <a:cubicBezTo>
                    <a:pt x="751" y="478"/>
                    <a:pt x="726" y="454"/>
                    <a:pt x="697" y="45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AA42FADC-E122-4F42-B361-9DF954FBB9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33112" y="2160726"/>
            <a:ext cx="3816350" cy="29894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&lt;email@kpit.com&gt;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9AEDCAED-7C3F-46AC-A4EA-8ED77196EF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33112" y="3076720"/>
            <a:ext cx="3816350" cy="29894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&lt;+91-XXXXXXXXXX&gt;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7BE531CE-FC11-4021-87DF-FBAB057E5C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33112" y="4040339"/>
            <a:ext cx="3816350" cy="29894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&lt;+91-XXXXXXXXXX&gt;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56E72F-49A8-4F8D-A7D5-F158B147293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30925" y="0"/>
            <a:ext cx="6061075" cy="644525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98525459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0EB8ED7-5EF2-4935-B11C-3673F72C941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442075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73517-7251-4A95-BF7A-27A33273E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0316C-C80E-42CD-A5AF-AD5610DD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066B7-DD9E-444F-94D3-C30EC462A6E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015237D-5FB5-4A22-874B-74ADBF708F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840288"/>
            <a:ext cx="5053013" cy="40118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here for text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32783A1-070A-4F1D-A0EC-85D6D9EF3B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0036" y="4207547"/>
            <a:ext cx="5053013" cy="579437"/>
          </a:xfrm>
        </p:spPr>
        <p:txBody>
          <a:bodyPr anchor="ctr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59717406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ing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D7DF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6400800"/>
          </a:xfrm>
          <a:prstGeom prst="rect">
            <a:avLst/>
          </a:prstGeom>
          <a:solidFill>
            <a:srgbClr val="0089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43200" y="5238750"/>
            <a:ext cx="6705600" cy="476250"/>
          </a:xfrm>
        </p:spPr>
        <p:txBody>
          <a:bodyPr lIns="0" tIns="0" rIns="0" bIns="0" anchor="ctr" anchorCtr="0">
            <a:normAutofit/>
          </a:bodyPr>
          <a:lstStyle>
            <a:lvl1pPr algn="ctr">
              <a:defRPr sz="166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name of the presenter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88000" y="5791202"/>
            <a:ext cx="1016000" cy="244475"/>
          </a:xfrm>
        </p:spPr>
        <p:txBody>
          <a:bodyPr lIns="0" tIns="0" rIns="0" bIns="0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2178B7B-80B7-4C10-A4E7-EB2E55A4B33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33600" y="3657600"/>
            <a:ext cx="7924800" cy="914400"/>
          </a:xfrm>
        </p:spPr>
        <p:txBody>
          <a:bodyPr lIns="0" tIns="0" rIns="0" bIns="0" anchor="ctr" anchorCtr="0">
            <a:normAutofit/>
          </a:bodyPr>
          <a:lstStyle>
            <a:lvl1pPr algn="ctr">
              <a:buNone/>
              <a:defRPr sz="2834">
                <a:solidFill>
                  <a:schemeClr val="bg1"/>
                </a:solidFill>
              </a:defRPr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enter title of the presentation</a:t>
            </a:r>
          </a:p>
        </p:txBody>
      </p:sp>
      <p:pic>
        <p:nvPicPr>
          <p:cNvPr id="10" name="Picture 9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23" y="84223"/>
            <a:ext cx="4991154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42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era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773" y="6400800"/>
            <a:ext cx="998231" cy="457200"/>
          </a:xfrm>
          <a:prstGeom prst="rect">
            <a:avLst/>
          </a:prstGeom>
        </p:spPr>
      </p:pic>
      <p:cxnSp>
        <p:nvCxnSpPr>
          <p:cNvPr id="22" name="Straight Connector 21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/>
            </a:lvl1pPr>
          </a:lstStyle>
          <a:p>
            <a:fld id="{173C4A84-7C60-4089-A564-A39ABE05C7C0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1" y="6515100"/>
            <a:ext cx="7924800" cy="228600"/>
          </a:xfrm>
        </p:spPr>
        <p:txBody>
          <a:bodyPr/>
          <a:lstStyle>
            <a:lvl1pPr>
              <a:defRPr sz="834"/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/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0" y="2133602"/>
            <a:ext cx="12192000" cy="1958859"/>
          </a:xfrm>
          <a:prstGeom prst="rect">
            <a:avLst/>
          </a:prstGeom>
          <a:solidFill>
            <a:srgbClr val="0089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Rectangle 15"/>
          <p:cNvSpPr/>
          <p:nvPr userDrawn="1"/>
        </p:nvSpPr>
        <p:spPr>
          <a:xfrm>
            <a:off x="0" y="4121875"/>
            <a:ext cx="12192000" cy="457200"/>
          </a:xfrm>
          <a:prstGeom prst="rect">
            <a:avLst/>
          </a:prstGeom>
          <a:solidFill>
            <a:srgbClr val="D7DF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ext Placeholder 9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609261" y="2368062"/>
            <a:ext cx="6858000" cy="1524000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buNone/>
              <a:defRPr sz="2834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enter section title</a:t>
            </a:r>
          </a:p>
        </p:txBody>
      </p:sp>
      <p:sp>
        <p:nvSpPr>
          <p:cNvPr id="25" name="Text Placeholder 24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04051" y="4196862"/>
            <a:ext cx="4583906" cy="328246"/>
          </a:xfrm>
        </p:spPr>
        <p:txBody>
          <a:bodyPr lIns="91440" tIns="0" rIns="91440" bIns="0">
            <a:normAutofit/>
          </a:bodyPr>
          <a:lstStyle>
            <a:lvl1pPr marL="0" indent="0" algn="ctr">
              <a:spcBef>
                <a:spcPts val="0"/>
              </a:spcBef>
              <a:buNone/>
              <a:defRPr sz="1668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98803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245" y="0"/>
            <a:ext cx="2395755" cy="82296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12192000" cy="6400800"/>
          </a:xfrm>
          <a:prstGeom prst="rect">
            <a:avLst/>
          </a:prstGeom>
          <a:solidFill>
            <a:srgbClr val="0089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609259" y="3172968"/>
            <a:ext cx="6876117" cy="47548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41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35595" y="4672585"/>
            <a:ext cx="3023445" cy="329184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6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www.kpit.com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5361591" y="5220341"/>
            <a:ext cx="1426357" cy="291460"/>
            <a:chOff x="6188136" y="6294888"/>
            <a:chExt cx="1249508" cy="255323"/>
          </a:xfrm>
        </p:grpSpPr>
        <p:pic>
          <p:nvPicPr>
            <p:cNvPr id="17" name="Picture 16" descr="fb.png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804" b="-4354"/>
            <a:stretch/>
          </p:blipFill>
          <p:spPr>
            <a:xfrm>
              <a:off x="6188136" y="6294889"/>
              <a:ext cx="230594" cy="219464"/>
            </a:xfrm>
            <a:prstGeom prst="rect">
              <a:avLst/>
            </a:prstGeom>
          </p:spPr>
        </p:pic>
        <p:pic>
          <p:nvPicPr>
            <p:cNvPr id="18" name="Picture 17" descr="linkedin.png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r="62767" b="-15720"/>
            <a:stretch/>
          </p:blipFill>
          <p:spPr>
            <a:xfrm>
              <a:off x="6530317" y="6294889"/>
              <a:ext cx="229072" cy="243370"/>
            </a:xfrm>
            <a:prstGeom prst="rect">
              <a:avLst/>
            </a:prstGeom>
          </p:spPr>
        </p:pic>
        <p:pic>
          <p:nvPicPr>
            <p:cNvPr id="19" name="Picture 18" descr="twitter.png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67940" b="-21401"/>
            <a:stretch/>
          </p:blipFill>
          <p:spPr>
            <a:xfrm>
              <a:off x="6870976" y="6294888"/>
              <a:ext cx="232465" cy="255323"/>
            </a:xfrm>
            <a:prstGeom prst="rect">
              <a:avLst/>
            </a:prstGeom>
          </p:spPr>
        </p:pic>
        <p:pic>
          <p:nvPicPr>
            <p:cNvPr id="22" name="Picture 21" descr="you-tube.png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211635" y="6294889"/>
              <a:ext cx="226009" cy="210312"/>
            </a:xfrm>
            <a:prstGeom prst="rect">
              <a:avLst/>
            </a:prstGeom>
          </p:spPr>
        </p:pic>
      </p:grpSp>
      <p:sp>
        <p:nvSpPr>
          <p:cNvPr id="24" name="Rectangle 23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25" name="Date Placeholder 3"/>
          <p:cNvSpPr>
            <a:spLocks noGrp="1"/>
          </p:cNvSpPr>
          <p:nvPr userDrawn="1"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26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27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pic>
        <p:nvPicPr>
          <p:cNvPr id="40" name="Picture 39" descr="KPIT logo-(RGB)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3" y="6370000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39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3" y="274639"/>
            <a:ext cx="11049001" cy="609600"/>
          </a:xfrm>
        </p:spPr>
        <p:txBody>
          <a:bodyPr lIns="0" tIns="0" rIns="0" bIns="0" anchor="t" anchorCtr="0">
            <a:noAutofit/>
          </a:bodyPr>
          <a:lstStyle>
            <a:lvl1pPr algn="l">
              <a:defRPr sz="27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11658599" y="304800"/>
            <a:ext cx="533401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pic>
        <p:nvPicPr>
          <p:cNvPr id="17" name="Picture 16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3" y="6370000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328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3" y="277371"/>
            <a:ext cx="11049001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50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99" indent="0">
              <a:buNone/>
              <a:defRPr sz="1916">
                <a:solidFill>
                  <a:schemeClr val="tx1">
                    <a:tint val="75000"/>
                  </a:schemeClr>
                </a:solidFill>
              </a:defRPr>
            </a:lvl3pPr>
            <a:lvl4pPr marL="163275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4pPr>
            <a:lvl5pPr marL="2177001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5pPr>
            <a:lvl6pPr marL="2721252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6pPr>
            <a:lvl7pPr marL="3265502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7pPr>
            <a:lvl8pPr marL="380975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8pPr>
            <a:lvl9pPr marL="435400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the title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599" y="304800"/>
            <a:ext cx="533401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04275" y="709985"/>
            <a:ext cx="11055614" cy="550333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5"/>
          </p:nvPr>
        </p:nvSpPr>
        <p:spPr>
          <a:xfrm>
            <a:off x="277790" y="1547784"/>
            <a:ext cx="11151900" cy="4683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pic>
        <p:nvPicPr>
          <p:cNvPr id="31" name="Picture 30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3" y="6370000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08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3" y="277371"/>
            <a:ext cx="11049001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50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99" indent="0">
              <a:buNone/>
              <a:defRPr sz="1916">
                <a:solidFill>
                  <a:schemeClr val="tx1">
                    <a:tint val="75000"/>
                  </a:schemeClr>
                </a:solidFill>
              </a:defRPr>
            </a:lvl3pPr>
            <a:lvl4pPr marL="163275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4pPr>
            <a:lvl5pPr marL="2177001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5pPr>
            <a:lvl6pPr marL="2721252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6pPr>
            <a:lvl7pPr marL="3265502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7pPr>
            <a:lvl8pPr marL="380975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8pPr>
            <a:lvl9pPr marL="435400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the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2" y="1008188"/>
            <a:ext cx="11364384" cy="521894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715"/>
              </a:spcBef>
              <a:buNone/>
              <a:defRPr sz="2000"/>
            </a:lvl1pPr>
            <a:lvl2pPr marL="0" indent="0">
              <a:spcBef>
                <a:spcPts val="715"/>
              </a:spcBef>
              <a:buNone/>
              <a:defRPr sz="2167"/>
            </a:lvl2pPr>
            <a:lvl3pPr marL="0" indent="0">
              <a:spcBef>
                <a:spcPts val="715"/>
              </a:spcBef>
              <a:buNone/>
              <a:defRPr sz="2167"/>
            </a:lvl3pPr>
            <a:lvl4pPr marL="0" indent="0">
              <a:spcBef>
                <a:spcPts val="715"/>
              </a:spcBef>
              <a:buNone/>
              <a:defRPr sz="2167"/>
            </a:lvl4pPr>
            <a:lvl5pPr marL="0" indent="0">
              <a:spcBef>
                <a:spcPts val="715"/>
              </a:spcBef>
              <a:buNone/>
              <a:defRPr sz="2167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599" y="304800"/>
            <a:ext cx="533401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17523" y="1005389"/>
            <a:ext cx="9273367" cy="762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pic>
        <p:nvPicPr>
          <p:cNvPr id="30" name="Picture 29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3" y="6370000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372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3" y="277371"/>
            <a:ext cx="11049001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50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99" indent="0">
              <a:buNone/>
              <a:defRPr sz="1916">
                <a:solidFill>
                  <a:schemeClr val="tx1">
                    <a:tint val="75000"/>
                  </a:schemeClr>
                </a:solidFill>
              </a:defRPr>
            </a:lvl3pPr>
            <a:lvl4pPr marL="163275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4pPr>
            <a:lvl5pPr marL="2177001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5pPr>
            <a:lvl6pPr marL="2721252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6pPr>
            <a:lvl7pPr marL="3265502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7pPr>
            <a:lvl8pPr marL="380975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8pPr>
            <a:lvl9pPr marL="4354003" indent="0">
              <a:buNone/>
              <a:defRPr sz="1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the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1008187"/>
            <a:ext cx="5669280" cy="521894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715"/>
              </a:spcBef>
              <a:buFont typeface="Arial"/>
              <a:buChar char="•"/>
              <a:defRPr sz="1668"/>
            </a:lvl1pPr>
            <a:lvl2pPr marL="0" indent="0">
              <a:spcBef>
                <a:spcPts val="715"/>
              </a:spcBef>
              <a:buNone/>
              <a:defRPr sz="2167"/>
            </a:lvl2pPr>
            <a:lvl3pPr marL="0" indent="0">
              <a:spcBef>
                <a:spcPts val="715"/>
              </a:spcBef>
              <a:buNone/>
              <a:defRPr sz="2167"/>
            </a:lvl3pPr>
            <a:lvl4pPr marL="0" indent="0">
              <a:spcBef>
                <a:spcPts val="715"/>
              </a:spcBef>
              <a:buNone/>
              <a:defRPr sz="2167"/>
            </a:lvl4pPr>
            <a:lvl5pPr marL="0" indent="0">
              <a:spcBef>
                <a:spcPts val="715"/>
              </a:spcBef>
              <a:buNone/>
              <a:defRPr sz="2167"/>
            </a:lvl5pPr>
          </a:lstStyle>
          <a:p>
            <a:pPr lvl="0"/>
            <a:r>
              <a:rPr lang="en-US" dirty="0"/>
              <a:t>Click to edit the body text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 hasCustomPrompt="1"/>
          </p:nvPr>
        </p:nvSpPr>
        <p:spPr>
          <a:xfrm>
            <a:off x="6248403" y="1019908"/>
            <a:ext cx="5492752" cy="5225318"/>
          </a:xfrm>
        </p:spPr>
        <p:txBody>
          <a:bodyPr lIns="0" tIns="0" rIns="0" bIns="0">
            <a:normAutofit/>
          </a:bodyPr>
          <a:lstStyle>
            <a:lvl1pPr>
              <a:buFontTx/>
              <a:buNone/>
              <a:defRPr sz="2167"/>
            </a:lvl1pPr>
          </a:lstStyle>
          <a:p>
            <a:r>
              <a:rPr lang="en-US" dirty="0"/>
              <a:t>Click to place a chart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11658599" y="304800"/>
            <a:ext cx="533401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pic>
        <p:nvPicPr>
          <p:cNvPr id="31" name="Picture 30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3" y="6370000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390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or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457203" y="923926"/>
            <a:ext cx="11192933" cy="5238750"/>
          </a:xfrm>
        </p:spPr>
        <p:txBody>
          <a:bodyPr>
            <a:normAutofit/>
          </a:bodyPr>
          <a:lstStyle>
            <a:lvl1pPr>
              <a:buNone/>
              <a:defRPr sz="2167"/>
            </a:lvl1pPr>
          </a:lstStyle>
          <a:p>
            <a:r>
              <a:rPr lang="en-US" dirty="0"/>
              <a:t>Click to place map / picture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11658599" y="304800"/>
            <a:ext cx="533401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pic>
        <p:nvPicPr>
          <p:cNvPr id="29" name="Picture 28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3" y="6370000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8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1658599" y="304800"/>
            <a:ext cx="533401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8" name="Rectangle 17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pic>
        <p:nvPicPr>
          <p:cNvPr id="27" name="Picture 26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3" y="6370000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513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" y="0"/>
            <a:ext cx="12204700" cy="20399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"/>
            <a:ext cx="8432800" cy="5969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2191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74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5" rIns="108852" bIns="54425" rtlCol="0" anchor="ctr"/>
          <a:lstStyle/>
          <a:p>
            <a:pPr algn="ctr"/>
            <a:endParaRPr lang="en-US" sz="1500"/>
          </a:p>
        </p:txBody>
      </p:sp>
      <p:sp>
        <p:nvSpPr>
          <p:cNvPr id="2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7" name="Straight Connector 26"/>
          <p:cNvCxnSpPr/>
          <p:nvPr userDrawn="1"/>
        </p:nvCxnSpPr>
        <p:spPr>
          <a:xfrm rot="5400000">
            <a:off x="519641" y="6628345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rot="5400000">
            <a:off x="1293284" y="6628345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 rot="5400000">
            <a:off x="2865967" y="6628345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5" rIns="108852" bIns="54425" rtlCol="0" anchor="ctr"/>
          <a:lstStyle/>
          <a:p>
            <a:pPr algn="ctr"/>
            <a:endParaRPr lang="en-US" sz="1500"/>
          </a:p>
        </p:txBody>
      </p:sp>
      <p:pic>
        <p:nvPicPr>
          <p:cNvPr id="32" name="Picture 31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5" y="6370000"/>
            <a:ext cx="1065492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45954"/>
      </p:ext>
    </p:extLst>
  </p:cSld>
  <p:clrMapOvr>
    <a:masterClrMapping/>
  </p:clrMapOvr>
  <p:transition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773" y="6400800"/>
            <a:ext cx="998231" cy="457200"/>
          </a:xfrm>
          <a:prstGeom prst="rect">
            <a:avLst/>
          </a:prstGeom>
        </p:spPr>
      </p:pic>
      <p:cxnSp>
        <p:nvCxnSpPr>
          <p:cNvPr id="22" name="Straight Connector 21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/>
            </a:lvl1pPr>
          </a:lstStyle>
          <a:p>
            <a:fld id="{173C4A84-7C60-4089-A564-A39ABE05C7C0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1" y="6515100"/>
            <a:ext cx="7924800" cy="228600"/>
          </a:xfrm>
        </p:spPr>
        <p:txBody>
          <a:bodyPr/>
          <a:lstStyle>
            <a:lvl1pPr>
              <a:defRPr sz="834"/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/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0" y="2133602"/>
            <a:ext cx="12192000" cy="1958859"/>
          </a:xfrm>
          <a:prstGeom prst="rect">
            <a:avLst/>
          </a:prstGeom>
          <a:solidFill>
            <a:srgbClr val="0089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Rectangle 15"/>
          <p:cNvSpPr/>
          <p:nvPr userDrawn="1"/>
        </p:nvSpPr>
        <p:spPr>
          <a:xfrm>
            <a:off x="0" y="4121875"/>
            <a:ext cx="12192000" cy="457200"/>
          </a:xfrm>
          <a:prstGeom prst="rect">
            <a:avLst/>
          </a:prstGeom>
          <a:solidFill>
            <a:srgbClr val="D7DF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096000" y="3300046"/>
            <a:ext cx="1792478" cy="528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4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34" dirty="0">
                <a:solidFill>
                  <a:schemeClr val="bg1"/>
                </a:solidFill>
                <a:latin typeface="Segoe UI" pitchFamily="34" charset="0"/>
                <a:cs typeface="Segoe UI" pitchFamily="34" charset="0"/>
              </a:rPr>
              <a:t>Questions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2996210" y="2242728"/>
            <a:ext cx="2126773" cy="1438318"/>
            <a:chOff x="2627156" y="2000250"/>
            <a:chExt cx="2009647" cy="1359106"/>
          </a:xfrm>
        </p:grpSpPr>
        <p:sp>
          <p:nvSpPr>
            <p:cNvPr id="17" name="Oval Callout 16"/>
            <p:cNvSpPr/>
            <p:nvPr userDrawn="1"/>
          </p:nvSpPr>
          <p:spPr>
            <a:xfrm>
              <a:off x="3481378" y="2000250"/>
              <a:ext cx="1155425" cy="693255"/>
            </a:xfrm>
            <a:prstGeom prst="wedgeEllipseCallout">
              <a:avLst>
                <a:gd name="adj1" fmla="val -41827"/>
                <a:gd name="adj2" fmla="val 7337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8" name="Oval Callout 17"/>
            <p:cNvSpPr/>
            <p:nvPr userDrawn="1"/>
          </p:nvSpPr>
          <p:spPr>
            <a:xfrm flipH="1">
              <a:off x="2627156" y="2274294"/>
              <a:ext cx="1589943" cy="1085062"/>
            </a:xfrm>
            <a:prstGeom prst="wedgeEllipseCallout">
              <a:avLst>
                <a:gd name="adj1" fmla="val -41827"/>
                <a:gd name="adj2" fmla="val 7337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41177433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7420708" y="3486074"/>
            <a:ext cx="3550549" cy="899530"/>
          </a:xfrm>
        </p:spPr>
        <p:txBody>
          <a:bodyPr lIns="0" tIns="0" rIns="0" bIns="0">
            <a:normAutofit/>
          </a:bodyPr>
          <a:lstStyle>
            <a:lvl1pPr algn="l">
              <a:buNone/>
              <a:defRPr sz="1001"/>
            </a:lvl1pPr>
            <a:lvl2pPr algn="l">
              <a:buNone/>
              <a:defRPr sz="1001"/>
            </a:lvl2pPr>
            <a:lvl3pPr algn="l">
              <a:buNone/>
              <a:defRPr sz="1001"/>
            </a:lvl3pPr>
            <a:lvl4pPr algn="l">
              <a:buNone/>
              <a:defRPr sz="1001"/>
            </a:lvl4pPr>
            <a:lvl5pPr algn="l">
              <a:buNone/>
              <a:defRPr sz="1001"/>
            </a:lvl5pPr>
          </a:lstStyle>
          <a:p>
            <a:pPr lvl="0"/>
            <a:r>
              <a:rPr lang="en-US" dirty="0"/>
              <a:t>Contact 1</a:t>
            </a:r>
          </a:p>
          <a:p>
            <a:pPr lvl="0"/>
            <a:r>
              <a:rPr lang="en-US" dirty="0"/>
              <a:t>Contact 2</a:t>
            </a:r>
          </a:p>
          <a:p>
            <a:pPr lvl="0"/>
            <a:r>
              <a:rPr lang="en-US" dirty="0"/>
              <a:t>E-mail id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7420708" y="5162475"/>
            <a:ext cx="3550549" cy="930010"/>
          </a:xfrm>
        </p:spPr>
        <p:txBody>
          <a:bodyPr lIns="0" tIns="0" rIns="0" bIns="0">
            <a:normAutofit/>
          </a:bodyPr>
          <a:lstStyle>
            <a:lvl1pPr algn="l">
              <a:buNone/>
              <a:defRPr sz="1001"/>
            </a:lvl1pPr>
            <a:lvl2pPr algn="l">
              <a:buNone/>
              <a:defRPr sz="1001"/>
            </a:lvl2pPr>
            <a:lvl3pPr algn="l">
              <a:buNone/>
              <a:defRPr sz="1001"/>
            </a:lvl3pPr>
            <a:lvl4pPr algn="l">
              <a:buNone/>
              <a:defRPr sz="1001"/>
            </a:lvl4pPr>
            <a:lvl5pPr algn="l">
              <a:buNone/>
              <a:defRPr sz="1001"/>
            </a:lvl5pPr>
          </a:lstStyle>
          <a:p>
            <a:pPr lvl="0"/>
            <a:r>
              <a:rPr lang="en-US" dirty="0"/>
              <a:t>Contact 1</a:t>
            </a:r>
          </a:p>
          <a:p>
            <a:pPr lvl="0"/>
            <a:r>
              <a:rPr lang="en-US" dirty="0"/>
              <a:t>Contact 2</a:t>
            </a:r>
          </a:p>
          <a:p>
            <a:pPr lvl="0"/>
            <a:r>
              <a:rPr lang="en-US" dirty="0"/>
              <a:t>E-mail id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7420710" y="3379766"/>
            <a:ext cx="3558540" cy="1323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7420710" y="5056166"/>
            <a:ext cx="3558540" cy="1323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11658599" y="304800"/>
            <a:ext cx="533401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7409332" y="2977522"/>
            <a:ext cx="4126178" cy="351834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668" baseline="0"/>
            </a:lvl1pPr>
          </a:lstStyle>
          <a:p>
            <a:pPr lvl="0"/>
            <a:r>
              <a:rPr lang="en-US" dirty="0"/>
              <a:t>Name of the presenter 1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7409332" y="4630476"/>
            <a:ext cx="4126178" cy="351834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668" baseline="0"/>
            </a:lvl1pPr>
          </a:lstStyle>
          <a:p>
            <a:pPr lvl="0"/>
            <a:r>
              <a:rPr lang="en-US" dirty="0"/>
              <a:t>Name of the presenter 2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8" name="Straight Connector 27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2" name="Rectangle 31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pic>
        <p:nvPicPr>
          <p:cNvPr id="33" name="Picture 32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3" y="6370000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733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C14F98-EB08-4070-A49C-A8A25D76B6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38D46C-1FA0-4C20-A3A5-A71F44DAB3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9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4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9" y="4305453"/>
            <a:ext cx="4356100" cy="309562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665637"/>
      </p:ext>
    </p:extLst>
  </p:cSld>
  <p:clrMapOvr>
    <a:masterClrMapping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1EBD52-9DDE-4C3D-BF91-2DD57BB3A21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8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4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Restricted and Confidential © Work Sans 10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5635487" y="1938130"/>
            <a:ext cx="921028" cy="94421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8" y="2404367"/>
            <a:ext cx="6996402" cy="1720372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/>
        </p:nvGrpSpPr>
        <p:grpSpPr>
          <a:xfrm>
            <a:off x="537458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003E77-5EC9-4043-82E6-DA753DA68411}"/>
              </a:ext>
            </a:extLst>
          </p:cNvPr>
          <p:cNvGrpSpPr/>
          <p:nvPr/>
        </p:nvGrpSpPr>
        <p:grpSpPr>
          <a:xfrm>
            <a:off x="537458" y="668337"/>
            <a:ext cx="1833583" cy="527240"/>
            <a:chOff x="522288" y="496888"/>
            <a:chExt cx="866775" cy="249238"/>
          </a:xfrm>
          <a:solidFill>
            <a:schemeClr val="accent2"/>
          </a:soli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D171461C-7E11-4727-BC70-1A3E99B78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DCB1985-1E91-4176-A736-EDBF686BA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BA7B760-C9CC-4119-BE9E-1F211E9518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9D52E03-D7AD-4990-8226-88567044F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D48C1F2-89B1-4202-8201-04D58C387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83419930-EB06-420C-9C85-6453A218E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2421277"/>
      </p:ext>
    </p:extLst>
  </p:cSld>
  <p:clrMapOvr>
    <a:masterClrMapping/>
  </p:clrMapOvr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7CF25C-82C5-4E39-9DBF-813F29A7D8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5191984" y="0"/>
            <a:ext cx="7000015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4909930" y="2223652"/>
            <a:ext cx="2514600" cy="1592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4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81018-9257-4330-ACBD-1BA79AA27977}"/>
              </a:ext>
            </a:extLst>
          </p:cNvPr>
          <p:cNvSpPr/>
          <p:nvPr/>
        </p:nvSpPr>
        <p:spPr>
          <a:xfrm>
            <a:off x="3793657" y="600"/>
            <a:ext cx="2514600" cy="993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8D1809-26DB-4EAB-B9FE-A9F69EA3676B}"/>
              </a:ext>
            </a:extLst>
          </p:cNvPr>
          <p:cNvGrpSpPr/>
          <p:nvPr/>
        </p:nvGrpSpPr>
        <p:grpSpPr>
          <a:xfrm>
            <a:off x="493776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4E08BE1-618C-49D8-B7EF-C3C543F809DA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3BF6B8-D820-4EF1-9D81-6550D585FB39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045D3C-8236-4AEA-9D24-B742D74089AF}"/>
              </a:ext>
            </a:extLst>
          </p:cNvPr>
          <p:cNvGrpSpPr/>
          <p:nvPr/>
        </p:nvGrpSpPr>
        <p:grpSpPr>
          <a:xfrm>
            <a:off x="493776" y="668337"/>
            <a:ext cx="1833583" cy="527240"/>
            <a:chOff x="522288" y="496888"/>
            <a:chExt cx="866775" cy="24923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9A4EA13-CF31-48DE-96E1-28BADD2F2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5A1E693-B34D-4A8B-9209-B9B03E4A1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6B23526B-DCF2-4446-A8DF-97A4358555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55C3E40B-FD7B-49C5-A50A-33AFAB8ED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20ABD8C8-DA77-4033-9AF1-7EBB5B37E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87159288-A5ED-4305-8773-CBBE6AB13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7379831"/>
      </p:ext>
    </p:extLst>
  </p:cSld>
  <p:clrMapOvr>
    <a:masterClrMapping/>
  </p:clrMapOvr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550881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4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7" y="351741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2" y="1579581"/>
            <a:ext cx="4577005" cy="1623155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B7C1B9-2095-4997-AB3E-0290BD55F2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012" y="769975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34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04751" y="2817264"/>
            <a:ext cx="5245824" cy="1476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D586E-F233-48FE-A780-BB4D0BED1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896" y="4383088"/>
            <a:ext cx="5243679" cy="367816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DFC6F-3286-4A3D-A782-EF139340A1F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51" y="464694"/>
            <a:ext cx="1727322" cy="4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19226"/>
      </p:ext>
    </p:extLst>
  </p:cSld>
  <p:clrMapOvr>
    <a:masterClrMapping/>
  </p:clrMapOvr>
  <p:hf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86444"/>
      </p:ext>
    </p:extLst>
  </p:cSld>
  <p:clrMapOvr>
    <a:masterClrMapping/>
  </p:clrMapOvr>
  <p:hf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316596"/>
      </p:ext>
    </p:extLst>
  </p:cSld>
  <p:clrMapOvr>
    <a:masterClrMapping/>
  </p:clrMapOvr>
  <p:hf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36575" y="1641352"/>
            <a:ext cx="11117263" cy="4313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81124"/>
      </p:ext>
    </p:extLst>
  </p:cSld>
  <p:clrMapOvr>
    <a:masterClrMapping/>
  </p:clrMapOvr>
  <p:hf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bottom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0820E8D-C14D-4C0B-BD6B-8F88D7BAAD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4A7328-CA38-4B1B-B573-1B0774D3AC9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4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FC39A8-2928-4641-814D-B19F9B6E95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15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midd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F18A5-09F4-47C1-A4BD-EC66B9E1685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EBA99D-F27E-46D4-86A6-1803583B424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4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AA439-BB0B-4BC6-A160-9D3AE0EBCD9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_half_left">
            <a:extLst>
              <a:ext uri="{FF2B5EF4-FFF2-40B4-BE49-F238E27FC236}">
                <a16:creationId xmlns:a16="http://schemas.microsoft.com/office/drawing/2014/main" id="{35197603-5189-4129-8F15-E1A3230F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067" y="2831694"/>
            <a:ext cx="5245824" cy="597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030347"/>
      </p:ext>
    </p:extLst>
  </p:cSld>
  <p:clrMapOvr>
    <a:masterClrMapping/>
  </p:clrMapOvr>
  <p:hf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426425"/>
            <a:ext cx="5245824" cy="597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02373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230967029"/>
      </p:ext>
    </p:extLst>
  </p:cSld>
  <p:clrMapOvr>
    <a:masterClrMapping/>
  </p:clrMapOvr>
  <p:hf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backgrou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2991678"/>
            <a:ext cx="12192000" cy="3866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988EB7-C821-4EEA-B8AF-13B106E73F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7419" y="436119"/>
            <a:ext cx="1727322" cy="49746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6401" y="341736"/>
            <a:ext cx="8529067" cy="59185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7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ubtitle_half_left">
            <a:extLst>
              <a:ext uri="{FF2B5EF4-FFF2-40B4-BE49-F238E27FC236}">
                <a16:creationId xmlns:a16="http://schemas.microsoft.com/office/drawing/2014/main" id="{77E6C968-BC80-4BF5-89B5-09F0B60719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02373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454119007"/>
      </p:ext>
    </p:extLst>
  </p:cSld>
  <p:clrMapOvr>
    <a:masterClrMapping/>
  </p:clrMapOvr>
  <p:hf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Background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07600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925200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8390B-E553-4AFB-9D02-3A91A917F16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65143"/>
      </p:ext>
    </p:extLst>
  </p:cSld>
  <p:clrMapOvr>
    <a:masterClrMapping/>
  </p:clrMapOvr>
  <p:hf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36426-6EC5-4026-9861-2E3B511F9B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86766"/>
      </p:ext>
    </p:extLst>
  </p:cSld>
  <p:clrMapOvr>
    <a:masterClrMapping/>
  </p:clrMapOvr>
  <p:hf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Opening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4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470213"/>
      </p:ext>
    </p:extLst>
  </p:cSld>
  <p:clrMapOvr>
    <a:masterClrMapping/>
  </p:clrMapOvr>
  <p:hf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Opening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04751" y="2817264"/>
            <a:ext cx="5245824" cy="1476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D586E-F233-48FE-A780-BB4D0BED1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896" y="4383088"/>
            <a:ext cx="5243679" cy="367816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780539"/>
      </p:ext>
    </p:extLst>
  </p:cSld>
  <p:clrMapOvr>
    <a:masterClrMapping/>
  </p:clrMapOvr>
  <p:hf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parato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0475" y="2867025"/>
            <a:ext cx="5238750" cy="68580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7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C594177-F99A-4662-8440-E0841141092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40475" y="3642450"/>
            <a:ext cx="5248275" cy="487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3519651-5666-4FFC-BC6B-5AF65EDD66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2" y="0"/>
            <a:ext cx="5839171" cy="68580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98753"/>
      </p:ext>
    </p:extLst>
  </p:cSld>
  <p:clrMapOvr>
    <a:masterClrMapping/>
  </p:clrMapOvr>
  <p:hf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PIT logo-(RGB)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245" y="0"/>
            <a:ext cx="2395755" cy="82296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12192000" cy="6400800"/>
          </a:xfrm>
          <a:prstGeom prst="rect">
            <a:avLst/>
          </a:prstGeom>
          <a:solidFill>
            <a:srgbClr val="0089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609259" y="3172968"/>
            <a:ext cx="6876117" cy="47548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41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35595" y="4672585"/>
            <a:ext cx="3023445" cy="329184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6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www.kpit.com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5361591" y="5220341"/>
            <a:ext cx="1426357" cy="291460"/>
            <a:chOff x="6188136" y="6294888"/>
            <a:chExt cx="1249508" cy="255323"/>
          </a:xfrm>
        </p:grpSpPr>
        <p:pic>
          <p:nvPicPr>
            <p:cNvPr id="17" name="Picture 16" descr="fb.png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804" b="-4354"/>
            <a:stretch/>
          </p:blipFill>
          <p:spPr>
            <a:xfrm>
              <a:off x="6188136" y="6294889"/>
              <a:ext cx="230594" cy="219464"/>
            </a:xfrm>
            <a:prstGeom prst="rect">
              <a:avLst/>
            </a:prstGeom>
          </p:spPr>
        </p:pic>
        <p:pic>
          <p:nvPicPr>
            <p:cNvPr id="18" name="Picture 17" descr="linkedin.png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r="62767" b="-15720"/>
            <a:stretch/>
          </p:blipFill>
          <p:spPr>
            <a:xfrm>
              <a:off x="6530317" y="6294889"/>
              <a:ext cx="229072" cy="243370"/>
            </a:xfrm>
            <a:prstGeom prst="rect">
              <a:avLst/>
            </a:prstGeom>
          </p:spPr>
        </p:pic>
        <p:pic>
          <p:nvPicPr>
            <p:cNvPr id="19" name="Picture 18" descr="twitter.png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67940" b="-21401"/>
            <a:stretch/>
          </p:blipFill>
          <p:spPr>
            <a:xfrm>
              <a:off x="6870976" y="6294888"/>
              <a:ext cx="232465" cy="255323"/>
            </a:xfrm>
            <a:prstGeom prst="rect">
              <a:avLst/>
            </a:prstGeom>
          </p:spPr>
        </p:pic>
        <p:pic>
          <p:nvPicPr>
            <p:cNvPr id="22" name="Picture 21" descr="you-tube.png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211635" y="6294889"/>
              <a:ext cx="226009" cy="210312"/>
            </a:xfrm>
            <a:prstGeom prst="rect">
              <a:avLst/>
            </a:prstGeom>
          </p:spPr>
        </p:pic>
      </p:grpSp>
      <p:sp>
        <p:nvSpPr>
          <p:cNvPr id="24" name="Rectangle 23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sp>
        <p:nvSpPr>
          <p:cNvPr id="25" name="Date Placeholder 3"/>
          <p:cNvSpPr>
            <a:spLocks noGrp="1"/>
          </p:cNvSpPr>
          <p:nvPr userDrawn="1"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26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124199" y="6515100"/>
            <a:ext cx="7848601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27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4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 userDrawn="1"/>
        </p:nvCxnSpPr>
        <p:spPr>
          <a:xfrm rot="5400000">
            <a:off x="519641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 rot="5400000">
            <a:off x="1293282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 userDrawn="1"/>
        </p:nvCxnSpPr>
        <p:spPr>
          <a:xfrm rot="5400000">
            <a:off x="2865967" y="6628344"/>
            <a:ext cx="228600" cy="21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ooter Placeholder 4"/>
          <p:cNvSpPr txBox="1">
            <a:spLocks/>
          </p:cNvSpPr>
          <p:nvPr userDrawn="1"/>
        </p:nvSpPr>
        <p:spPr>
          <a:xfrm>
            <a:off x="1513420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7" rIns="108852" bIns="54427" rtlCol="0" anchor="ctr"/>
          <a:lstStyle/>
          <a:p>
            <a:pPr algn="ctr"/>
            <a:endParaRPr lang="en-US" sz="1500"/>
          </a:p>
        </p:txBody>
      </p:sp>
      <p:pic>
        <p:nvPicPr>
          <p:cNvPr id="40" name="Picture 39" descr="KPIT logo-(RGB)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153" y="6370000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5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image" Target="../media/image19.png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169184" y="12219"/>
            <a:ext cx="11860891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684954" y="6556173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5"/>
                </a:solidFill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159659" y="6451934"/>
            <a:ext cx="11994241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314700" y="6552314"/>
            <a:ext cx="7193282" cy="245776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184" y="716625"/>
            <a:ext cx="11860892" cy="5274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10712450" y="6556177"/>
            <a:ext cx="866140" cy="238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64D412-F064-400C-8012-40BEB9578E7A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59" y="6574790"/>
            <a:ext cx="761937" cy="21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0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62" r:id="rId17"/>
    <p:sldLayoutId id="2147483663" r:id="rId18"/>
    <p:sldLayoutId id="2147483664" r:id="rId19"/>
    <p:sldLayoutId id="2147483665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-2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05937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27573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5"/>
                </a:solidFill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22300" y="6223334"/>
            <a:ext cx="1093152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2819400" y="6323714"/>
            <a:ext cx="7193282" cy="245776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10217150" y="6327577"/>
            <a:ext cx="866140" cy="238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64D412-F064-400C-8012-40BEB9578E7A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89" y="6346190"/>
            <a:ext cx="761937" cy="21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2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-2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13" Type="http://schemas.openxmlformats.org/officeDocument/2006/relationships/image" Target="../media/image34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12" Type="http://schemas.openxmlformats.org/officeDocument/2006/relationships/image" Target="../media/image33.jpg"/><Relationship Id="rId2" Type="http://schemas.openxmlformats.org/officeDocument/2006/relationships/image" Target="../media/image23.jpg"/><Relationship Id="rId16" Type="http://schemas.openxmlformats.org/officeDocument/2006/relationships/image" Target="../media/image37.jp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7.jpg"/><Relationship Id="rId11" Type="http://schemas.openxmlformats.org/officeDocument/2006/relationships/image" Target="../media/image32.jpg"/><Relationship Id="rId5" Type="http://schemas.openxmlformats.org/officeDocument/2006/relationships/image" Target="../media/image26.jpg"/><Relationship Id="rId15" Type="http://schemas.openxmlformats.org/officeDocument/2006/relationships/image" Target="../media/image36.jpg"/><Relationship Id="rId10" Type="http://schemas.openxmlformats.org/officeDocument/2006/relationships/image" Target="../media/image3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Relationship Id="rId14" Type="http://schemas.openxmlformats.org/officeDocument/2006/relationships/image" Target="../media/image35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39.jpg"/><Relationship Id="rId7" Type="http://schemas.openxmlformats.org/officeDocument/2006/relationships/image" Target="../media/image43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42.pn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slideLayout" Target="../slideLayouts/slideLayout31.xml"/><Relationship Id="rId1" Type="http://schemas.openxmlformats.org/officeDocument/2006/relationships/customXml" Target="../../customXml/item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4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4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4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3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82.sv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BEC47A-0794-44D4-83A8-4C63D9D521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DD-MM-YY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3AC83F-CE75-4288-BB17-E25A41F492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/>
          </a:bodyPr>
          <a:lstStyle/>
          <a:p>
            <a:r>
              <a:rPr lang="en-US" dirty="0"/>
              <a:t>PEG, KPIT Technologies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Basic Software Development Process Methodology</a:t>
            </a:r>
            <a:br>
              <a:rPr lang="en-US" sz="3200" b="1" dirty="0"/>
            </a:br>
            <a:br>
              <a:rPr lang="en-US" sz="2400" dirty="0"/>
            </a:br>
            <a:r>
              <a:rPr lang="en-US" sz="2000" b="1" dirty="0"/>
              <a:t>Unit 2 – PROCESS AND EPMN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98754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08F6-0F20-4490-A241-30E8CE73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A2CD7-E341-4A4B-BEAA-BC4DE648A0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40E70-6D80-4EB5-9840-7E7417F1BEC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3B121-5A20-4499-8B49-20BF2D27C422}"/>
              </a:ext>
            </a:extLst>
          </p:cNvPr>
          <p:cNvSpPr/>
          <p:nvPr/>
        </p:nvSpPr>
        <p:spPr>
          <a:xfrm>
            <a:off x="644014" y="1086776"/>
            <a:ext cx="414793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Introduction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SDPM 2.0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EPMN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Objects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Representations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Model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View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Writing Vs Modelling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EPMN Visio Plug-In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Introduction to Visio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Introduction to EPMN Plug-In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File Operations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Modelling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Exporting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B9E9A1-3A1C-4697-8C05-E94D8E3B7ADD}"/>
              </a:ext>
            </a:extLst>
          </p:cNvPr>
          <p:cNvSpPr/>
          <p:nvPr/>
        </p:nvSpPr>
        <p:spPr>
          <a:xfrm>
            <a:off x="4171927" y="1027784"/>
            <a:ext cx="7082972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sz="1400" b="1" dirty="0"/>
              <a:t>EPMN Shapes &amp; Rules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Objects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Uniphase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Activity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Artefact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Guidance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Role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Relationships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Control Flow (Uniphase Example with activities and control flow)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Data Flow(Unihpase example appended with Artefacts &amp; Data Flow)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RASIC Flow ( Activity Example with RASIC/Unihpase Example with RASIC)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Gates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Start Gate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End Gate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AND Gate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OR Gate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XOR Gate</a:t>
            </a:r>
          </a:p>
          <a:p>
            <a:pPr marL="742950" lvl="1" indent="-285750">
              <a:buFontTx/>
              <a:buChar char="-"/>
            </a:pPr>
            <a:r>
              <a:rPr lang="en-US" sz="1400" dirty="0"/>
              <a:t>Others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Note</a:t>
            </a:r>
          </a:p>
          <a:p>
            <a:pPr marL="1200150" lvl="2" indent="-285750">
              <a:buFontTx/>
              <a:buChar char="-"/>
            </a:pPr>
            <a:r>
              <a:rPr lang="en-US" sz="1400" dirty="0"/>
              <a:t>Lane Of Association</a:t>
            </a:r>
          </a:p>
          <a:p>
            <a:pPr marL="1200150" lvl="2" indent="-285750">
              <a:buFontTx/>
              <a:buChar char="-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878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D5754F-9175-4260-9B39-6E52287E880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32FF7-6941-4A0A-92DB-FBD60A880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51" y="2817264"/>
            <a:ext cx="5245824" cy="58477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C72076D-2413-4FE2-A3FF-3D1A76A433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94F66-B903-4108-9893-0B8575432A4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15100"/>
            <a:ext cx="609600" cy="228600"/>
          </a:xfrm>
        </p:spPr>
        <p:txBody>
          <a:bodyPr/>
          <a:lstStyle/>
          <a:p>
            <a:pPr defTabSz="1088499"/>
            <a:fld id="{2AAA71ED-8F0A-4F74-A503-A1718E888FF0}" type="datetime1">
              <a:rPr lang="en-US">
                <a:solidFill>
                  <a:prstClr val="black"/>
                </a:solidFill>
              </a:rPr>
              <a:pPr defTabSz="1088499"/>
              <a:t>1/7/2020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5B20D-8E23-4973-BF38-E57348B637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15100"/>
            <a:ext cx="304800" cy="228600"/>
          </a:xfrm>
        </p:spPr>
        <p:txBody>
          <a:bodyPr/>
          <a:lstStyle/>
          <a:p>
            <a:pPr defTabSz="1088499"/>
            <a:fld id="{19A725F3-83D0-4529-A15C-9D644B8C51E0}" type="slidenum">
              <a:rPr lang="en-US">
                <a:solidFill>
                  <a:prstClr val="black"/>
                </a:solidFill>
              </a:rPr>
              <a:pPr defTabSz="1088499"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3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1BAB-334F-485F-BCE6-7D28A8A9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C2A93-3C7E-44CB-A3DC-8F9124DC9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4800" y="6501848"/>
            <a:ext cx="304800" cy="228600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B4733-F6A6-4268-B961-78700BF06C5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62000" y="6501848"/>
            <a:ext cx="609600" cy="228600"/>
          </a:xfrm>
        </p:spPr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5D95A-DBB0-48E4-B63D-31F7BEAFC916}"/>
              </a:ext>
            </a:extLst>
          </p:cNvPr>
          <p:cNvSpPr txBox="1"/>
          <p:nvPr/>
        </p:nvSpPr>
        <p:spPr>
          <a:xfrm>
            <a:off x="516834" y="932352"/>
            <a:ext cx="7792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Engineering Process Modelling Notation is composed of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AE0392B4-2335-4772-9516-13618A6FE416}"/>
              </a:ext>
            </a:extLst>
          </p:cNvPr>
          <p:cNvSpPr/>
          <p:nvPr/>
        </p:nvSpPr>
        <p:spPr>
          <a:xfrm>
            <a:off x="609600" y="1361318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823E950-35B2-4869-B163-998DF5A5B8B4}"/>
              </a:ext>
            </a:extLst>
          </p:cNvPr>
          <p:cNvSpPr/>
          <p:nvPr/>
        </p:nvSpPr>
        <p:spPr>
          <a:xfrm>
            <a:off x="304799" y="1378226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DF644F67-DC14-471E-8BA9-F53DFAE6189B}"/>
              </a:ext>
            </a:extLst>
          </p:cNvPr>
          <p:cNvSpPr/>
          <p:nvPr/>
        </p:nvSpPr>
        <p:spPr>
          <a:xfrm>
            <a:off x="609600" y="1822227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Shapes’ Representations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809BC52-BC3F-484E-8A6E-5594BC0C0237}"/>
              </a:ext>
            </a:extLst>
          </p:cNvPr>
          <p:cNvSpPr/>
          <p:nvPr/>
        </p:nvSpPr>
        <p:spPr>
          <a:xfrm>
            <a:off x="304799" y="1839135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E28D9406-C99E-46A3-B2B9-E81BD9FA0E95}"/>
              </a:ext>
            </a:extLst>
          </p:cNvPr>
          <p:cNvSpPr/>
          <p:nvPr/>
        </p:nvSpPr>
        <p:spPr>
          <a:xfrm>
            <a:off x="609600" y="2310828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Model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139866F9-A0FC-4468-8B69-33802226A198}"/>
              </a:ext>
            </a:extLst>
          </p:cNvPr>
          <p:cNvSpPr/>
          <p:nvPr/>
        </p:nvSpPr>
        <p:spPr>
          <a:xfrm>
            <a:off x="304799" y="2327736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7AB2A898-CA03-4B9F-BAC5-757C9CEEFD66}"/>
              </a:ext>
            </a:extLst>
          </p:cNvPr>
          <p:cNvSpPr/>
          <p:nvPr/>
        </p:nvSpPr>
        <p:spPr>
          <a:xfrm>
            <a:off x="609600" y="2789833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View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EE8AFF25-7023-4D70-9CF9-09180C9CDA78}"/>
              </a:ext>
            </a:extLst>
          </p:cNvPr>
          <p:cNvSpPr/>
          <p:nvPr/>
        </p:nvSpPr>
        <p:spPr>
          <a:xfrm>
            <a:off x="304799" y="2806741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8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1BAB-334F-485F-BCE6-7D28A8A9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C2A93-3C7E-44CB-A3DC-8F9124DC9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B4733-F6A6-4268-B961-78700BF06C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5D95A-DBB0-48E4-B63D-31F7BEAFC916}"/>
              </a:ext>
            </a:extLst>
          </p:cNvPr>
          <p:cNvSpPr txBox="1"/>
          <p:nvPr/>
        </p:nvSpPr>
        <p:spPr>
          <a:xfrm>
            <a:off x="560053" y="913597"/>
            <a:ext cx="7792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Engineering Process Modelling Notation is composed of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AE0392B4-2335-4772-9516-13618A6FE416}"/>
              </a:ext>
            </a:extLst>
          </p:cNvPr>
          <p:cNvSpPr/>
          <p:nvPr/>
        </p:nvSpPr>
        <p:spPr>
          <a:xfrm>
            <a:off x="609600" y="1361318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823E950-35B2-4869-B163-998DF5A5B8B4}"/>
              </a:ext>
            </a:extLst>
          </p:cNvPr>
          <p:cNvSpPr/>
          <p:nvPr/>
        </p:nvSpPr>
        <p:spPr>
          <a:xfrm>
            <a:off x="304799" y="1378226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DF644F67-DC14-471E-8BA9-F53DFAE6189B}"/>
              </a:ext>
            </a:extLst>
          </p:cNvPr>
          <p:cNvSpPr/>
          <p:nvPr/>
        </p:nvSpPr>
        <p:spPr>
          <a:xfrm>
            <a:off x="609600" y="4872495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Shapes’ Representations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809BC52-BC3F-484E-8A6E-5594BC0C0237}"/>
              </a:ext>
            </a:extLst>
          </p:cNvPr>
          <p:cNvSpPr/>
          <p:nvPr/>
        </p:nvSpPr>
        <p:spPr>
          <a:xfrm>
            <a:off x="304799" y="4889403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E28D9406-C99E-46A3-B2B9-E81BD9FA0E95}"/>
              </a:ext>
            </a:extLst>
          </p:cNvPr>
          <p:cNvSpPr/>
          <p:nvPr/>
        </p:nvSpPr>
        <p:spPr>
          <a:xfrm>
            <a:off x="609600" y="5374348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Model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139866F9-A0FC-4468-8B69-33802226A198}"/>
              </a:ext>
            </a:extLst>
          </p:cNvPr>
          <p:cNvSpPr/>
          <p:nvPr/>
        </p:nvSpPr>
        <p:spPr>
          <a:xfrm>
            <a:off x="304799" y="5391256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7AB2A898-CA03-4B9F-BAC5-757C9CEEFD66}"/>
              </a:ext>
            </a:extLst>
          </p:cNvPr>
          <p:cNvSpPr/>
          <p:nvPr/>
        </p:nvSpPr>
        <p:spPr>
          <a:xfrm>
            <a:off x="609600" y="5853353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View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EE8AFF25-7023-4D70-9CF9-09180C9CDA78}"/>
              </a:ext>
            </a:extLst>
          </p:cNvPr>
          <p:cNvSpPr/>
          <p:nvPr/>
        </p:nvSpPr>
        <p:spPr>
          <a:xfrm>
            <a:off x="304799" y="5870261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75FB7E-649A-4073-8115-7FC4D0A29F18}"/>
              </a:ext>
            </a:extLst>
          </p:cNvPr>
          <p:cNvSpPr/>
          <p:nvPr/>
        </p:nvSpPr>
        <p:spPr>
          <a:xfrm>
            <a:off x="596348" y="1794932"/>
            <a:ext cx="11277600" cy="2979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Objects (Shapes) are the building blocks of Engineering Process.</a:t>
            </a:r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4057CB-FC44-40F5-8406-2B087AC48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207988"/>
            <a:ext cx="815009" cy="5168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3429C0D-1168-4E39-B721-E4A7214F0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41" y="3325592"/>
            <a:ext cx="532575" cy="9568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61BA27-2FA4-42F2-8A78-02C0BFBB1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275" y="2215812"/>
            <a:ext cx="809810" cy="5052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3DB8403-DDAD-47B4-9347-A23FF35619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857" y="2207988"/>
            <a:ext cx="1183893" cy="5187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9C5E915-39DB-4461-9DB5-48E7BC36FB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494" y="2212402"/>
            <a:ext cx="1180203" cy="50870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F254B0A-755F-43CC-8DE3-2D2A59CD53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733" y="3773590"/>
            <a:ext cx="505203" cy="50520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BF6D0A2-D9EE-4D33-A8C8-67D2E9B1D8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888" y="3797742"/>
            <a:ext cx="505299" cy="50529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8CAF06A-ACB2-43AC-90A2-BE0CF90CFB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608" y="3797741"/>
            <a:ext cx="524609" cy="52460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F504368-E276-412D-9CF4-C86AC9475E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639" y="3797741"/>
            <a:ext cx="505300" cy="5053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298637D-B535-4F87-B4C0-44D4E29F7E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453" y="3797742"/>
            <a:ext cx="488014" cy="48801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3CE78B0-F812-4848-9468-7ED363C383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285" y="3988478"/>
            <a:ext cx="1409700" cy="1238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EAF2EB3-7D50-4B8C-941A-749D55DD3DD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619914" y="3927861"/>
            <a:ext cx="942975" cy="2762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134397B-441C-4E35-A074-BF2ED483DCF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633"/>
          <a:stretch/>
        </p:blipFill>
        <p:spPr>
          <a:xfrm>
            <a:off x="9282985" y="3900948"/>
            <a:ext cx="2132122" cy="28160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D952373-8F69-45C0-AA8C-B24767BC8B60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1" b="16275"/>
          <a:stretch/>
        </p:blipFill>
        <p:spPr>
          <a:xfrm>
            <a:off x="9080727" y="2214426"/>
            <a:ext cx="1348734" cy="49908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28D5DD0-3837-4EB6-A74E-0DEDF137FA7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99" y="2186956"/>
            <a:ext cx="1446972" cy="52976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B9CBE10-074E-4EBD-A87F-73193959417A}"/>
              </a:ext>
            </a:extLst>
          </p:cNvPr>
          <p:cNvSpPr txBox="1"/>
          <p:nvPr/>
        </p:nvSpPr>
        <p:spPr>
          <a:xfrm>
            <a:off x="995258" y="2720309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Uniphase</a:t>
            </a:r>
            <a:endParaRPr lang="en-US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897701-DC96-4B5D-B568-3C94BAA2FB6B}"/>
              </a:ext>
            </a:extLst>
          </p:cNvPr>
          <p:cNvSpPr txBox="1"/>
          <p:nvPr/>
        </p:nvSpPr>
        <p:spPr>
          <a:xfrm>
            <a:off x="2316282" y="2707213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Activity</a:t>
            </a:r>
            <a:endParaRPr 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983F07-CA6C-4B17-B1BF-0B89D6707423}"/>
              </a:ext>
            </a:extLst>
          </p:cNvPr>
          <p:cNvSpPr txBox="1"/>
          <p:nvPr/>
        </p:nvSpPr>
        <p:spPr>
          <a:xfrm>
            <a:off x="5754431" y="2680233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Guidance</a:t>
            </a:r>
            <a:endParaRPr lang="en-US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0478F4-1DB8-403A-BF10-74A0FC2D6CDE}"/>
              </a:ext>
            </a:extLst>
          </p:cNvPr>
          <p:cNvSpPr txBox="1"/>
          <p:nvPr/>
        </p:nvSpPr>
        <p:spPr>
          <a:xfrm>
            <a:off x="4031337" y="2711015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Artefact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6E048A-A064-49EB-9D69-0F4B544331E4}"/>
              </a:ext>
            </a:extLst>
          </p:cNvPr>
          <p:cNvSpPr txBox="1"/>
          <p:nvPr/>
        </p:nvSpPr>
        <p:spPr>
          <a:xfrm>
            <a:off x="7394239" y="2724823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Role</a:t>
            </a:r>
            <a:endParaRPr lang="en-US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590FBF-5CE9-4603-8688-9A634614EE01}"/>
              </a:ext>
            </a:extLst>
          </p:cNvPr>
          <p:cNvSpPr txBox="1"/>
          <p:nvPr/>
        </p:nvSpPr>
        <p:spPr>
          <a:xfrm>
            <a:off x="9276048" y="2724822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Note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21F9E7-0C05-4108-AC2F-B024A5F8C022}"/>
              </a:ext>
            </a:extLst>
          </p:cNvPr>
          <p:cNvSpPr txBox="1"/>
          <p:nvPr/>
        </p:nvSpPr>
        <p:spPr>
          <a:xfrm>
            <a:off x="822882" y="4310790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Lane</a:t>
            </a:r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52BEA6-A241-4D6F-90B7-EC935C64D09D}"/>
              </a:ext>
            </a:extLst>
          </p:cNvPr>
          <p:cNvSpPr txBox="1"/>
          <p:nvPr/>
        </p:nvSpPr>
        <p:spPr>
          <a:xfrm>
            <a:off x="1767288" y="4322350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Start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71C9C5-9330-4E20-A299-4270EB1E0C0E}"/>
              </a:ext>
            </a:extLst>
          </p:cNvPr>
          <p:cNvSpPr txBox="1"/>
          <p:nvPr/>
        </p:nvSpPr>
        <p:spPr>
          <a:xfrm>
            <a:off x="2692582" y="4297316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End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66DBFA-FFAB-4B1B-A1F5-D7F550684F1F}"/>
              </a:ext>
            </a:extLst>
          </p:cNvPr>
          <p:cNvSpPr txBox="1"/>
          <p:nvPr/>
        </p:nvSpPr>
        <p:spPr>
          <a:xfrm>
            <a:off x="3634201" y="4297316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AND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55C645-4E46-423E-9F04-1867510C0EA9}"/>
              </a:ext>
            </a:extLst>
          </p:cNvPr>
          <p:cNvSpPr txBox="1"/>
          <p:nvPr/>
        </p:nvSpPr>
        <p:spPr>
          <a:xfrm>
            <a:off x="4559495" y="4282405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OR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C1C47C-0140-49F5-98D5-764E1C39E3ED}"/>
              </a:ext>
            </a:extLst>
          </p:cNvPr>
          <p:cNvSpPr txBox="1"/>
          <p:nvPr/>
        </p:nvSpPr>
        <p:spPr>
          <a:xfrm>
            <a:off x="5510388" y="4284242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XOR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43C29F-1E2E-48B2-8E4B-5E6E2E781273}"/>
              </a:ext>
            </a:extLst>
          </p:cNvPr>
          <p:cNvSpPr txBox="1"/>
          <p:nvPr/>
        </p:nvSpPr>
        <p:spPr>
          <a:xfrm>
            <a:off x="6623984" y="4285756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Control Flow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94FCF8-2A16-4D3B-9F8B-6D30652680A5}"/>
              </a:ext>
            </a:extLst>
          </p:cNvPr>
          <p:cNvSpPr txBox="1"/>
          <p:nvPr/>
        </p:nvSpPr>
        <p:spPr>
          <a:xfrm>
            <a:off x="8122635" y="4218456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Data Flow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B8E5C5-A215-4D25-8355-17619F56D535}"/>
              </a:ext>
            </a:extLst>
          </p:cNvPr>
          <p:cNvSpPr txBox="1"/>
          <p:nvPr/>
        </p:nvSpPr>
        <p:spPr>
          <a:xfrm>
            <a:off x="10196126" y="4218456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RASIC Flow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1626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1BAB-334F-485F-BCE6-7D28A8A9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C2A93-3C7E-44CB-A3DC-8F9124DC9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B4733-F6A6-4268-B961-78700BF06C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5D95A-DBB0-48E4-B63D-31F7BEAFC916}"/>
              </a:ext>
            </a:extLst>
          </p:cNvPr>
          <p:cNvSpPr txBox="1"/>
          <p:nvPr/>
        </p:nvSpPr>
        <p:spPr>
          <a:xfrm>
            <a:off x="537459" y="899243"/>
            <a:ext cx="7792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Engineering Process Modelling Notation is composed of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AE0392B4-2335-4772-9516-13618A6FE416}"/>
              </a:ext>
            </a:extLst>
          </p:cNvPr>
          <p:cNvSpPr/>
          <p:nvPr/>
        </p:nvSpPr>
        <p:spPr>
          <a:xfrm>
            <a:off x="609600" y="1361318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823E950-35B2-4869-B163-998DF5A5B8B4}"/>
              </a:ext>
            </a:extLst>
          </p:cNvPr>
          <p:cNvSpPr/>
          <p:nvPr/>
        </p:nvSpPr>
        <p:spPr>
          <a:xfrm>
            <a:off x="304799" y="1378226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DF644F67-DC14-471E-8BA9-F53DFAE6189B}"/>
              </a:ext>
            </a:extLst>
          </p:cNvPr>
          <p:cNvSpPr/>
          <p:nvPr/>
        </p:nvSpPr>
        <p:spPr>
          <a:xfrm>
            <a:off x="609600" y="1835875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Shapes’ Representations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809BC52-BC3F-484E-8A6E-5594BC0C0237}"/>
              </a:ext>
            </a:extLst>
          </p:cNvPr>
          <p:cNvSpPr/>
          <p:nvPr/>
        </p:nvSpPr>
        <p:spPr>
          <a:xfrm>
            <a:off x="304799" y="1852783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E28D9406-C99E-46A3-B2B9-E81BD9FA0E95}"/>
              </a:ext>
            </a:extLst>
          </p:cNvPr>
          <p:cNvSpPr/>
          <p:nvPr/>
        </p:nvSpPr>
        <p:spPr>
          <a:xfrm>
            <a:off x="609600" y="5374348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Model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139866F9-A0FC-4468-8B69-33802226A198}"/>
              </a:ext>
            </a:extLst>
          </p:cNvPr>
          <p:cNvSpPr/>
          <p:nvPr/>
        </p:nvSpPr>
        <p:spPr>
          <a:xfrm>
            <a:off x="304799" y="5391256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7AB2A898-CA03-4B9F-BAC5-757C9CEEFD66}"/>
              </a:ext>
            </a:extLst>
          </p:cNvPr>
          <p:cNvSpPr/>
          <p:nvPr/>
        </p:nvSpPr>
        <p:spPr>
          <a:xfrm>
            <a:off x="609600" y="5853353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View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EE8AFF25-7023-4D70-9CF9-09180C9CDA78}"/>
              </a:ext>
            </a:extLst>
          </p:cNvPr>
          <p:cNvSpPr/>
          <p:nvPr/>
        </p:nvSpPr>
        <p:spPr>
          <a:xfrm>
            <a:off x="304799" y="5870261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75FB7E-649A-4073-8115-7FC4D0A29F18}"/>
              </a:ext>
            </a:extLst>
          </p:cNvPr>
          <p:cNvSpPr/>
          <p:nvPr/>
        </p:nvSpPr>
        <p:spPr>
          <a:xfrm>
            <a:off x="609600" y="2270291"/>
            <a:ext cx="10252364" cy="2979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Some objects can be represented in different form to provide an additional meaning or constraint.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04A742D-0F52-4AEB-BE73-41FFE6748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089" y="3466518"/>
            <a:ext cx="958636" cy="5751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B6366C-5D6E-41BA-BA40-B0A77FCE8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455" y="3509954"/>
            <a:ext cx="911384" cy="54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DAD210F-6166-4A0B-90F3-874B0849A1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91"/>
          <a:stretch/>
        </p:blipFill>
        <p:spPr>
          <a:xfrm>
            <a:off x="7823029" y="2824365"/>
            <a:ext cx="1325218" cy="12391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2C43EA3-1ED0-4B27-9773-C1C1F18CE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566" y="2794378"/>
            <a:ext cx="1424071" cy="125864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DBF662C-C250-42A4-A2F7-ED2FEAFB3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456" y="3444774"/>
            <a:ext cx="962025" cy="6381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3EB83A-E917-44F3-B301-6B47E62117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0586" y="3444774"/>
            <a:ext cx="981075" cy="6572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89393F6-C078-42DD-A50E-CDC08BC65899}"/>
              </a:ext>
            </a:extLst>
          </p:cNvPr>
          <p:cNvSpPr txBox="1"/>
          <p:nvPr/>
        </p:nvSpPr>
        <p:spPr>
          <a:xfrm>
            <a:off x="761456" y="4090779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Iterative Uniphase</a:t>
            </a:r>
            <a:endParaRPr 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9DC07-6B7D-4AC4-A982-8DFE3BBD397E}"/>
              </a:ext>
            </a:extLst>
          </p:cNvPr>
          <p:cNvSpPr txBox="1"/>
          <p:nvPr/>
        </p:nvSpPr>
        <p:spPr>
          <a:xfrm>
            <a:off x="1992077" y="4111077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Iterative Activity</a:t>
            </a:r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8A2B49-57BC-483F-A115-79A77B944C37}"/>
              </a:ext>
            </a:extLst>
          </p:cNvPr>
          <p:cNvSpPr txBox="1"/>
          <p:nvPr/>
        </p:nvSpPr>
        <p:spPr>
          <a:xfrm>
            <a:off x="3386046" y="4150010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Output – Data Flow</a:t>
            </a:r>
            <a:endParaRPr 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530326-B9A8-49FF-80F2-8E9E2A21435F}"/>
              </a:ext>
            </a:extLst>
          </p:cNvPr>
          <p:cNvSpPr txBox="1"/>
          <p:nvPr/>
        </p:nvSpPr>
        <p:spPr>
          <a:xfrm>
            <a:off x="4664633" y="4129616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Input – Data Flow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7126A9-1E30-4E33-8AC7-1FCC098AC088}"/>
              </a:ext>
            </a:extLst>
          </p:cNvPr>
          <p:cNvSpPr txBox="1"/>
          <p:nvPr/>
        </p:nvSpPr>
        <p:spPr>
          <a:xfrm>
            <a:off x="6232977" y="4151439"/>
            <a:ext cx="1046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Requisite Connection</a:t>
            </a:r>
            <a:endParaRPr lang="en-US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CE8CE4-83C6-4ED6-8572-9699A895AD11}"/>
              </a:ext>
            </a:extLst>
          </p:cNvPr>
          <p:cNvSpPr txBox="1"/>
          <p:nvPr/>
        </p:nvSpPr>
        <p:spPr>
          <a:xfrm>
            <a:off x="7890151" y="4156263"/>
            <a:ext cx="119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Pre-Requisite Connection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5F18DC-47C5-4905-A6FD-620546D681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9722" y="3398359"/>
            <a:ext cx="532176" cy="64334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8D309D2-240A-428A-B002-A9925E06953E}"/>
              </a:ext>
            </a:extLst>
          </p:cNvPr>
          <p:cNvSpPr txBox="1"/>
          <p:nvPr/>
        </p:nvSpPr>
        <p:spPr>
          <a:xfrm>
            <a:off x="9350323" y="4141680"/>
            <a:ext cx="119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Circular </a:t>
            </a:r>
          </a:p>
          <a:p>
            <a:pPr algn="ctr"/>
            <a:r>
              <a:rPr lang="en-US" sz="1200" b="1" dirty="0"/>
              <a:t>Role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3832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1BAB-334F-485F-BCE6-7D28A8A9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C2A93-3C7E-44CB-A3DC-8F9124DC9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B4733-F6A6-4268-B961-78700BF06C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5D95A-DBB0-48E4-B63D-31F7BEAFC916}"/>
              </a:ext>
            </a:extLst>
          </p:cNvPr>
          <p:cNvSpPr txBox="1"/>
          <p:nvPr/>
        </p:nvSpPr>
        <p:spPr>
          <a:xfrm>
            <a:off x="537459" y="899653"/>
            <a:ext cx="7792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Engineering Process Modelling Notation is composed of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AE0392B4-2335-4772-9516-13618A6FE416}"/>
              </a:ext>
            </a:extLst>
          </p:cNvPr>
          <p:cNvSpPr/>
          <p:nvPr/>
        </p:nvSpPr>
        <p:spPr>
          <a:xfrm>
            <a:off x="609600" y="1361318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823E950-35B2-4869-B163-998DF5A5B8B4}"/>
              </a:ext>
            </a:extLst>
          </p:cNvPr>
          <p:cNvSpPr/>
          <p:nvPr/>
        </p:nvSpPr>
        <p:spPr>
          <a:xfrm>
            <a:off x="304799" y="1378226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DF644F67-DC14-471E-8BA9-F53DFAE6189B}"/>
              </a:ext>
            </a:extLst>
          </p:cNvPr>
          <p:cNvSpPr/>
          <p:nvPr/>
        </p:nvSpPr>
        <p:spPr>
          <a:xfrm>
            <a:off x="609600" y="1835875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Shapes’ Representations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809BC52-BC3F-484E-8A6E-5594BC0C0237}"/>
              </a:ext>
            </a:extLst>
          </p:cNvPr>
          <p:cNvSpPr/>
          <p:nvPr/>
        </p:nvSpPr>
        <p:spPr>
          <a:xfrm>
            <a:off x="304799" y="1852783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E28D9406-C99E-46A3-B2B9-E81BD9FA0E95}"/>
              </a:ext>
            </a:extLst>
          </p:cNvPr>
          <p:cNvSpPr/>
          <p:nvPr/>
        </p:nvSpPr>
        <p:spPr>
          <a:xfrm>
            <a:off x="609600" y="2347432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Model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139866F9-A0FC-4468-8B69-33802226A198}"/>
              </a:ext>
            </a:extLst>
          </p:cNvPr>
          <p:cNvSpPr/>
          <p:nvPr/>
        </p:nvSpPr>
        <p:spPr>
          <a:xfrm>
            <a:off x="304799" y="2364340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7AB2A898-CA03-4B9F-BAC5-757C9CEEFD66}"/>
              </a:ext>
            </a:extLst>
          </p:cNvPr>
          <p:cNvSpPr/>
          <p:nvPr/>
        </p:nvSpPr>
        <p:spPr>
          <a:xfrm>
            <a:off x="609600" y="5853353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View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EE8AFF25-7023-4D70-9CF9-09180C9CDA78}"/>
              </a:ext>
            </a:extLst>
          </p:cNvPr>
          <p:cNvSpPr/>
          <p:nvPr/>
        </p:nvSpPr>
        <p:spPr>
          <a:xfrm>
            <a:off x="304799" y="5870261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F0F0AA-C639-4EFC-BBE5-3E2E1040CC40}"/>
              </a:ext>
            </a:extLst>
          </p:cNvPr>
          <p:cNvSpPr/>
          <p:nvPr/>
        </p:nvSpPr>
        <p:spPr>
          <a:xfrm>
            <a:off x="609600" y="2795477"/>
            <a:ext cx="10252364" cy="2979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A model is instantiation of an object or a group of objects in the process. Each instantiated object will have a some properties and relationships with each other.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2071CF-01CB-4418-8AAF-740531ED1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835" y="3417814"/>
            <a:ext cx="4028661" cy="19921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895699-8759-4F33-9EC5-3702A17B8071}"/>
              </a:ext>
            </a:extLst>
          </p:cNvPr>
          <p:cNvSpPr txBox="1"/>
          <p:nvPr/>
        </p:nvSpPr>
        <p:spPr>
          <a:xfrm>
            <a:off x="4764156" y="5410009"/>
            <a:ext cx="1630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Model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7119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1BAB-334F-485F-BCE6-7D28A8A9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C2A93-3C7E-44CB-A3DC-8F9124DC9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B4733-F6A6-4268-B961-78700BF06C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5D95A-DBB0-48E4-B63D-31F7BEAFC916}"/>
              </a:ext>
            </a:extLst>
          </p:cNvPr>
          <p:cNvSpPr txBox="1"/>
          <p:nvPr/>
        </p:nvSpPr>
        <p:spPr>
          <a:xfrm>
            <a:off x="516834" y="916990"/>
            <a:ext cx="7792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Engineering Process Modelling Notation is composed of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AE0392B4-2335-4772-9516-13618A6FE416}"/>
              </a:ext>
            </a:extLst>
          </p:cNvPr>
          <p:cNvSpPr/>
          <p:nvPr/>
        </p:nvSpPr>
        <p:spPr>
          <a:xfrm>
            <a:off x="609600" y="1361318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823E950-35B2-4869-B163-998DF5A5B8B4}"/>
              </a:ext>
            </a:extLst>
          </p:cNvPr>
          <p:cNvSpPr/>
          <p:nvPr/>
        </p:nvSpPr>
        <p:spPr>
          <a:xfrm>
            <a:off x="304799" y="1378226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DF644F67-DC14-471E-8BA9-F53DFAE6189B}"/>
              </a:ext>
            </a:extLst>
          </p:cNvPr>
          <p:cNvSpPr/>
          <p:nvPr/>
        </p:nvSpPr>
        <p:spPr>
          <a:xfrm>
            <a:off x="609600" y="1835875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Shapes’ Representations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809BC52-BC3F-484E-8A6E-5594BC0C0237}"/>
              </a:ext>
            </a:extLst>
          </p:cNvPr>
          <p:cNvSpPr/>
          <p:nvPr/>
        </p:nvSpPr>
        <p:spPr>
          <a:xfrm>
            <a:off x="304799" y="1852783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E28D9406-C99E-46A3-B2B9-E81BD9FA0E95}"/>
              </a:ext>
            </a:extLst>
          </p:cNvPr>
          <p:cNvSpPr/>
          <p:nvPr/>
        </p:nvSpPr>
        <p:spPr>
          <a:xfrm>
            <a:off x="609600" y="2347432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Model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139866F9-A0FC-4468-8B69-33802226A198}"/>
              </a:ext>
            </a:extLst>
          </p:cNvPr>
          <p:cNvSpPr/>
          <p:nvPr/>
        </p:nvSpPr>
        <p:spPr>
          <a:xfrm>
            <a:off x="304799" y="2364340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7AB2A898-CA03-4B9F-BAC5-757C9CEEFD66}"/>
              </a:ext>
            </a:extLst>
          </p:cNvPr>
          <p:cNvSpPr/>
          <p:nvPr/>
        </p:nvSpPr>
        <p:spPr>
          <a:xfrm>
            <a:off x="609600" y="2858989"/>
            <a:ext cx="5910470" cy="369333"/>
          </a:xfrm>
          <a:prstGeom prst="snip1Rect">
            <a:avLst>
              <a:gd name="adj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>
                <a:solidFill>
                  <a:sysClr val="windowText" lastClr="000000"/>
                </a:solidFill>
              </a:rPr>
              <a:t>View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EE8AFF25-7023-4D70-9CF9-09180C9CDA78}"/>
              </a:ext>
            </a:extLst>
          </p:cNvPr>
          <p:cNvSpPr/>
          <p:nvPr/>
        </p:nvSpPr>
        <p:spPr>
          <a:xfrm>
            <a:off x="304799" y="2875897"/>
            <a:ext cx="212035" cy="352425"/>
          </a:xfrm>
          <a:prstGeom prst="homePlate">
            <a:avLst/>
          </a:prstGeom>
          <a:solidFill>
            <a:srgbClr val="99CC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7ED44-8B02-4975-9C61-8BCF93934539}"/>
              </a:ext>
            </a:extLst>
          </p:cNvPr>
          <p:cNvSpPr/>
          <p:nvPr/>
        </p:nvSpPr>
        <p:spPr>
          <a:xfrm>
            <a:off x="596348" y="3317538"/>
            <a:ext cx="10252364" cy="2979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View is a representation of an object, or a group of objects, where some or all of their properties and relationships may be visible. View is an avatar, of an object in the model.</a:t>
            </a: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32E7C49-9110-4DB3-A011-7B5440D11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516" y="3950947"/>
            <a:ext cx="3065598" cy="22628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EBB892A-48EE-4005-B0AF-DACD01B316D5}"/>
              </a:ext>
            </a:extLst>
          </p:cNvPr>
          <p:cNvSpPr/>
          <p:nvPr/>
        </p:nvSpPr>
        <p:spPr>
          <a:xfrm>
            <a:off x="3793255" y="5147189"/>
            <a:ext cx="701679" cy="41295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7FC98-A483-4645-A3C6-5EC6BA74228E}"/>
              </a:ext>
            </a:extLst>
          </p:cNvPr>
          <p:cNvSpPr/>
          <p:nvPr/>
        </p:nvSpPr>
        <p:spPr>
          <a:xfrm>
            <a:off x="5110770" y="5152109"/>
            <a:ext cx="701679" cy="41295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27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9DE4-A3D1-4509-8843-D2236CB6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vs Modelling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EC475-7762-4458-8AF1-9652F76261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AE299-CC70-4561-9889-9995C3B7D58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E2039B-9CB0-42FE-A60E-3667982DA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153465"/>
              </p:ext>
            </p:extLst>
          </p:nvPr>
        </p:nvGraphicFramePr>
        <p:xfrm>
          <a:off x="663676" y="1077474"/>
          <a:ext cx="10840066" cy="30739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087518">
                  <a:extLst>
                    <a:ext uri="{9D8B030D-6E8A-4147-A177-3AD203B41FA5}">
                      <a16:colId xmlns:a16="http://schemas.microsoft.com/office/drawing/2014/main" val="2967540535"/>
                    </a:ext>
                  </a:extLst>
                </a:gridCol>
                <a:gridCol w="5752548">
                  <a:extLst>
                    <a:ext uri="{9D8B030D-6E8A-4147-A177-3AD203B41FA5}">
                      <a16:colId xmlns:a16="http://schemas.microsoft.com/office/drawing/2014/main" val="1067579263"/>
                    </a:ext>
                  </a:extLst>
                </a:gridCol>
              </a:tblGrid>
              <a:tr h="4179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Drawing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770783"/>
                  </a:ext>
                </a:extLst>
              </a:tr>
              <a:tr h="417959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Creates static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Creates abstract objects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623386"/>
                  </a:ext>
                </a:extLst>
              </a:tr>
              <a:tr h="417959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Information is conveyed by writing/drawing on the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Information is conveyed using Object’s properties and relationships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489540"/>
                  </a:ext>
                </a:extLst>
              </a:tr>
              <a:tr h="417959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Objects can have several avatars (views)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102114"/>
                  </a:ext>
                </a:extLst>
              </a:tr>
              <a:tr h="417959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Objects can support inheritance &amp; polymorphism (Hence supports reuse)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64641"/>
                  </a:ext>
                </a:extLst>
              </a:tr>
              <a:tr h="417959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72279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0AEF619-3601-452C-9AB6-65DC8148A3F7}"/>
              </a:ext>
            </a:extLst>
          </p:cNvPr>
          <p:cNvSpPr/>
          <p:nvPr/>
        </p:nvSpPr>
        <p:spPr>
          <a:xfrm>
            <a:off x="457200" y="4348370"/>
            <a:ext cx="92440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/>
              <a:t>*abstract - existing as an idea, feeling, or quality, not as a material object.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05548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696C36A-E905-4AD9-9319-8AE1D00F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A607F-DAC8-4642-A695-3ED00FBE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51" y="2817264"/>
            <a:ext cx="5245824" cy="584775"/>
          </a:xfrm>
        </p:spPr>
        <p:txBody>
          <a:bodyPr/>
          <a:lstStyle/>
          <a:p>
            <a:r>
              <a:rPr lang="en-US" dirty="0"/>
              <a:t>EPMN Visio Plug-In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BC56A8-EB2D-4BCC-9998-7B4AED8257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BF8AB-BF0D-48AB-920B-7853835A1F8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15100"/>
            <a:ext cx="609600" cy="228600"/>
          </a:xfrm>
        </p:spPr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59BF3-6746-491E-8F10-AD3A86ECCF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15100"/>
            <a:ext cx="304800" cy="228600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69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Visio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73C4A84-7C60-4089-A564-A39ABE05C7C0}" type="datetime1">
              <a:rPr lang="en-US" smtClean="0"/>
              <a:pPr/>
              <a:t>1/7/2020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78381"/>
              </p:ext>
            </p:extLst>
          </p:nvPr>
        </p:nvGraphicFramePr>
        <p:xfrm>
          <a:off x="6964494" y="695561"/>
          <a:ext cx="4110682" cy="5303520"/>
        </p:xfrm>
        <a:graphic>
          <a:graphicData uri="http://schemas.openxmlformats.org/drawingml/2006/table">
            <a:tbl>
              <a:tblPr firstRow="1" bandRow="1"/>
              <a:tblGrid>
                <a:gridCol w="252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5565">
                <a:tc>
                  <a:txBody>
                    <a:bodyPr/>
                    <a:lstStyle/>
                    <a:p>
                      <a:r>
                        <a:rPr lang="en-US" sz="1800" dirty="0"/>
                        <a:t>Word Processor</a:t>
                      </a:r>
                    </a:p>
                    <a:p>
                      <a:r>
                        <a:rPr lang="en-US" sz="1200" dirty="0"/>
                        <a:t>Computer application</a:t>
                      </a:r>
                      <a:r>
                        <a:rPr lang="en-US" sz="1200" baseline="0" dirty="0"/>
                        <a:t> for </a:t>
                      </a:r>
                      <a:r>
                        <a:rPr lang="en-US" sz="1200" dirty="0"/>
                        <a:t>input, editing, formatting and output of text, often plus other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330">
                <a:tc>
                  <a:txBody>
                    <a:bodyPr/>
                    <a:lstStyle/>
                    <a:p>
                      <a:r>
                        <a:rPr lang="en-US" sz="1800" dirty="0"/>
                        <a:t>Spreadsheet</a:t>
                      </a:r>
                      <a:endParaRPr lang="en-US" dirty="0"/>
                    </a:p>
                    <a:p>
                      <a:r>
                        <a:rPr lang="en-US" sz="1200" dirty="0"/>
                        <a:t>Computer application for organization, analysis and storage of data in tabular form.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069">
                <a:tc>
                  <a:txBody>
                    <a:bodyPr/>
                    <a:lstStyle/>
                    <a:p>
                      <a:r>
                        <a:rPr lang="en-US" sz="1800" dirty="0"/>
                        <a:t>Presentation</a:t>
                      </a:r>
                      <a:endParaRPr lang="en-US" sz="2000" dirty="0"/>
                    </a:p>
                    <a:p>
                      <a:r>
                        <a:rPr lang="en-US" sz="1200" dirty="0"/>
                        <a:t>Computer application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used to display information in the form of a slide show.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546">
                <a:tc>
                  <a:txBody>
                    <a:bodyPr/>
                    <a:lstStyle/>
                    <a:p>
                      <a:r>
                        <a:rPr lang="en-US" sz="1800" dirty="0"/>
                        <a:t>Database</a:t>
                      </a:r>
                    </a:p>
                    <a:p>
                      <a:r>
                        <a:rPr lang="en-US" sz="1200" dirty="0"/>
                        <a:t>A database is an organized collection of data, generally stored and accessed electronically.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dirty="0"/>
                        <a:t>Vector Graphics</a:t>
                      </a:r>
                    </a:p>
                    <a:p>
                      <a:r>
                        <a:rPr lang="en-US" sz="1200" b="1" dirty="0"/>
                        <a:t>(Drawing)</a:t>
                      </a:r>
                      <a:r>
                        <a:rPr lang="en-US" sz="1200" baseline="0" dirty="0"/>
                        <a:t> Software for creating images in a 2D surface by drawing lines and curves to make shapes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832" y="775022"/>
            <a:ext cx="535347" cy="5271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743" y="2042503"/>
            <a:ext cx="535347" cy="5271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132" y="2977011"/>
            <a:ext cx="535347" cy="52711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204" y="3978616"/>
            <a:ext cx="535347" cy="52711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3864" y="5111245"/>
            <a:ext cx="535347" cy="5271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8396" y="1347435"/>
            <a:ext cx="1495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Microsoft Word®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762" y="2569614"/>
            <a:ext cx="1495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Microsoft Excel®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0338" y="3415880"/>
            <a:ext cx="2471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Microsoft </a:t>
            </a:r>
          </a:p>
          <a:p>
            <a:pPr algn="ctr"/>
            <a:r>
              <a:rPr lang="en-US" sz="1200" dirty="0"/>
              <a:t>Power Point®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396" y="5654243"/>
            <a:ext cx="1495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Microsoft Visio®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8122" y="4517254"/>
            <a:ext cx="1495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Microsoft Access®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459" y="1138453"/>
            <a:ext cx="62173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Microsoft Visio is a diagramming and vector graphics software as part of MS Office Suite of applications. It is used for all drawing applications like flow charts, building plans, electrical layouts, mind mapping, etc.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Salient features: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Easy to Use Interface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Templates &amp; shapes (a lot of them)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Import and Export (JPG, HTML, DWG, etc.)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Customization using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VBA Macros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.NET VSTO (Add-Ins)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70F1A3-6136-4291-9333-BC2BD2F704D4}"/>
              </a:ext>
            </a:extLst>
          </p:cNvPr>
          <p:cNvSpPr/>
          <p:nvPr/>
        </p:nvSpPr>
        <p:spPr>
          <a:xfrm>
            <a:off x="6949746" y="4852221"/>
            <a:ext cx="4118796" cy="116652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30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5E0F-D384-4B03-902F-0C92F31A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EPMN Plug-In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D4AB3-3ECE-49B4-9CC1-4DDBF94F3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432C-3E83-4211-81E1-26B7229E197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7B4BAB-4C27-43D6-9FE3-BE15DB514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99" y="1242956"/>
            <a:ext cx="10434191" cy="280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34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5E0F-D384-4B03-902F-0C92F31A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EPMN Plug-In – File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D4AB3-3ECE-49B4-9CC1-4DDBF94F3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432C-3E83-4211-81E1-26B7229E197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CFCAC3-5282-4929-A2A8-A67B712FC9DF}"/>
              </a:ext>
            </a:extLst>
          </p:cNvPr>
          <p:cNvGrpSpPr/>
          <p:nvPr/>
        </p:nvGrpSpPr>
        <p:grpSpPr>
          <a:xfrm>
            <a:off x="747251" y="1106101"/>
            <a:ext cx="9043781" cy="4759391"/>
            <a:chOff x="304800" y="751716"/>
            <a:chExt cx="9043781" cy="475939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F2AC26C-2688-497C-9C4E-5A947B3721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79286" b="25427"/>
            <a:stretch/>
          </p:blipFill>
          <p:spPr>
            <a:xfrm>
              <a:off x="304800" y="785755"/>
              <a:ext cx="2161310" cy="208996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1D146B9-129C-4BCB-B0ED-B9F584447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34539" y="751716"/>
              <a:ext cx="2743200" cy="2101932"/>
            </a:xfrm>
            <a:prstGeom prst="rect">
              <a:avLst/>
            </a:prstGeom>
          </p:spPr>
        </p:pic>
        <p:sp>
          <p:nvSpPr>
            <p:cNvPr id="17" name="Callout: Line with Accent Bar 16">
              <a:extLst>
                <a:ext uri="{FF2B5EF4-FFF2-40B4-BE49-F238E27FC236}">
                  <a16:creationId xmlns:a16="http://schemas.microsoft.com/office/drawing/2014/main" id="{506A35FD-0200-4162-A80C-6D97B3F5C352}"/>
                </a:ext>
              </a:extLst>
            </p:cNvPr>
            <p:cNvSpPr/>
            <p:nvPr/>
          </p:nvSpPr>
          <p:spPr>
            <a:xfrm>
              <a:off x="3631095" y="1011444"/>
              <a:ext cx="2491409" cy="1864277"/>
            </a:xfrm>
            <a:prstGeom prst="accentCallout1">
              <a:avLst>
                <a:gd name="adj1" fmla="val 18750"/>
                <a:gd name="adj2" fmla="val -8333"/>
                <a:gd name="adj3" fmla="val 39994"/>
                <a:gd name="adj4" fmla="val -112269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Creates new EPMN Project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One Visio Drawing (*.</a:t>
              </a:r>
              <a:r>
                <a:rPr lang="en-US" sz="1600" dirty="0" err="1">
                  <a:solidFill>
                    <a:schemeClr val="tx1"/>
                  </a:solidFill>
                </a:rPr>
                <a:t>vsdx</a:t>
              </a:r>
              <a:r>
                <a:rPr lang="en-US" sz="1600" dirty="0">
                  <a:solidFill>
                    <a:schemeClr val="tx1"/>
                  </a:solidFill>
                </a:rPr>
                <a:t>) is one project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Use “</a:t>
              </a:r>
              <a:r>
                <a:rPr lang="en-US" sz="1600" dirty="0" err="1">
                  <a:solidFill>
                    <a:schemeClr val="tx1"/>
                  </a:solidFill>
                </a:rPr>
                <a:t>SaveAs</a:t>
              </a:r>
              <a:r>
                <a:rPr lang="en-US" sz="1600" dirty="0">
                  <a:solidFill>
                    <a:schemeClr val="tx1"/>
                  </a:solidFill>
                </a:rPr>
                <a:t>” Dialog to provide the name of new project.</a:t>
              </a:r>
            </a:p>
          </p:txBody>
        </p:sp>
        <p:sp>
          <p:nvSpPr>
            <p:cNvPr id="19" name="Callout: Line with Accent Bar 18">
              <a:extLst>
                <a:ext uri="{FF2B5EF4-FFF2-40B4-BE49-F238E27FC236}">
                  <a16:creationId xmlns:a16="http://schemas.microsoft.com/office/drawing/2014/main" id="{112C1CD1-3206-48F4-82F7-ADCDE39CB73B}"/>
                </a:ext>
              </a:extLst>
            </p:cNvPr>
            <p:cNvSpPr/>
            <p:nvPr/>
          </p:nvSpPr>
          <p:spPr>
            <a:xfrm>
              <a:off x="3631094" y="3178930"/>
              <a:ext cx="2491410" cy="2095435"/>
            </a:xfrm>
            <a:prstGeom prst="accentCallout1">
              <a:avLst>
                <a:gd name="adj1" fmla="val 18750"/>
                <a:gd name="adj2" fmla="val -8333"/>
                <a:gd name="adj3" fmla="val -59442"/>
                <a:gd name="adj4" fmla="val -58545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Opens an existing EPMN Project (*.</a:t>
              </a:r>
              <a:r>
                <a:rPr lang="en-US" sz="1600" dirty="0" err="1">
                  <a:solidFill>
                    <a:schemeClr val="tx1"/>
                  </a:solidFill>
                </a:rPr>
                <a:t>vsdx</a:t>
              </a:r>
              <a:r>
                <a:rPr lang="en-US" sz="1600" dirty="0">
                  <a:solidFill>
                    <a:schemeClr val="tx1"/>
                  </a:solidFill>
                </a:rPr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It doesn’t recognize *.</a:t>
              </a:r>
              <a:r>
                <a:rPr lang="en-US" sz="1600" dirty="0" err="1">
                  <a:solidFill>
                    <a:schemeClr val="tx1"/>
                  </a:solidFill>
                </a:rPr>
                <a:t>vsdx</a:t>
              </a:r>
              <a:r>
                <a:rPr lang="en-US" sz="1600" dirty="0">
                  <a:solidFill>
                    <a:schemeClr val="tx1"/>
                  </a:solidFill>
                </a:rPr>
                <a:t> files which are not created using EPMN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Use “Open” Dialog to select the project.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B499D5E-0F44-4C8F-B701-ACE7942BF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4539" y="3178930"/>
              <a:ext cx="3014042" cy="23321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889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5E0F-D384-4B03-902F-0C92F31A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EPMN Plug-In – Modelling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D4AB3-3ECE-49B4-9CC1-4DDBF94F3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432C-3E83-4211-81E1-26B7229E197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0DF1A-C60F-4CCD-AC58-9F9ECFCF70DC}"/>
              </a:ext>
            </a:extLst>
          </p:cNvPr>
          <p:cNvSpPr txBox="1"/>
          <p:nvPr/>
        </p:nvSpPr>
        <p:spPr>
          <a:xfrm>
            <a:off x="537459" y="5830165"/>
            <a:ext cx="8203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EPMN Shapes cannot be used in a non-EPMN drawing.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CAFAFC-E8F6-4AA9-9644-0F7739DBE363}"/>
              </a:ext>
            </a:extLst>
          </p:cNvPr>
          <p:cNvGrpSpPr/>
          <p:nvPr/>
        </p:nvGrpSpPr>
        <p:grpSpPr>
          <a:xfrm>
            <a:off x="2279787" y="1224116"/>
            <a:ext cx="7778613" cy="4289189"/>
            <a:chOff x="2279787" y="711958"/>
            <a:chExt cx="8711033" cy="480134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A4B44D6-5A39-44DD-9194-E68BE9AEF2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0183" r="57511" b="32047"/>
            <a:stretch/>
          </p:blipFill>
          <p:spPr>
            <a:xfrm>
              <a:off x="2410692" y="785755"/>
              <a:ext cx="2327564" cy="190443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1F1FCD7-BE67-4F93-9E24-AE34A00B2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9303" y="711958"/>
              <a:ext cx="1909554" cy="4187215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ED85FE-DE67-46BC-B3C0-EF0E2B34DB0C}"/>
                </a:ext>
              </a:extLst>
            </p:cNvPr>
            <p:cNvCxnSpPr>
              <a:cxnSpLocks/>
            </p:cNvCxnSpPr>
            <p:nvPr/>
          </p:nvCxnSpPr>
          <p:spPr>
            <a:xfrm>
              <a:off x="3532909" y="1394139"/>
              <a:ext cx="2296394" cy="302139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30B294-38D5-4918-9BB5-BD14019A39A5}"/>
                </a:ext>
              </a:extLst>
            </p:cNvPr>
            <p:cNvCxnSpPr>
              <a:cxnSpLocks/>
            </p:cNvCxnSpPr>
            <p:nvPr/>
          </p:nvCxnSpPr>
          <p:spPr>
            <a:xfrm>
              <a:off x="3767758" y="1777121"/>
              <a:ext cx="5254906" cy="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25869A-8476-4010-95BB-08E274B9E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81045" y="884239"/>
              <a:ext cx="2009775" cy="3124200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671EC60-E165-4596-80CB-3FE61D7FA6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7671" y="2310454"/>
              <a:ext cx="863877" cy="762718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59FB2F9-54CC-47A0-8AB0-D72BAB285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79787" y="3119292"/>
              <a:ext cx="1487971" cy="23940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4255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F17FED3-BA3A-4C2E-9B4D-FAFCBA5E54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490" r="41444" b="35099"/>
          <a:stretch/>
        </p:blipFill>
        <p:spPr>
          <a:xfrm>
            <a:off x="4738256" y="1493675"/>
            <a:ext cx="1676400" cy="1818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635E0F-D384-4B03-902F-0C92F31A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EPMN Plug-In – Help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D4AB3-3ECE-49B4-9CC1-4DDBF94F3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432C-3E83-4211-81E1-26B7229E197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6" name="Callout: Line with Accent Bar 5">
            <a:extLst>
              <a:ext uri="{FF2B5EF4-FFF2-40B4-BE49-F238E27FC236}">
                <a16:creationId xmlns:a16="http://schemas.microsoft.com/office/drawing/2014/main" id="{456F84EF-014A-4C1F-BE2C-D8CBD7BF629C}"/>
              </a:ext>
            </a:extLst>
          </p:cNvPr>
          <p:cNvSpPr/>
          <p:nvPr/>
        </p:nvSpPr>
        <p:spPr>
          <a:xfrm>
            <a:off x="7724809" y="2170787"/>
            <a:ext cx="2186612" cy="973725"/>
          </a:xfrm>
          <a:prstGeom prst="accentCallout1">
            <a:avLst>
              <a:gd name="adj1" fmla="val 18750"/>
              <a:gd name="adj2" fmla="val -8333"/>
              <a:gd name="adj3" fmla="val 4452"/>
              <a:gd name="adj4" fmla="val -755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 Version Information</a:t>
            </a:r>
          </a:p>
        </p:txBody>
      </p:sp>
      <p:sp>
        <p:nvSpPr>
          <p:cNvPr id="7" name="Callout: Line with Accent Bar 6">
            <a:extLst>
              <a:ext uri="{FF2B5EF4-FFF2-40B4-BE49-F238E27FC236}">
                <a16:creationId xmlns:a16="http://schemas.microsoft.com/office/drawing/2014/main" id="{3EACB8C6-FCC0-49A4-967E-DB5627124E92}"/>
              </a:ext>
            </a:extLst>
          </p:cNvPr>
          <p:cNvSpPr/>
          <p:nvPr/>
        </p:nvSpPr>
        <p:spPr>
          <a:xfrm>
            <a:off x="1330040" y="3406154"/>
            <a:ext cx="2186612" cy="973725"/>
          </a:xfrm>
          <a:prstGeom prst="accentCallout1">
            <a:avLst>
              <a:gd name="adj1" fmla="val 29638"/>
              <a:gd name="adj2" fmla="val 105000"/>
              <a:gd name="adj3" fmla="val -49988"/>
              <a:gd name="adj4" fmla="val 16140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 Help File</a:t>
            </a:r>
          </a:p>
        </p:txBody>
      </p:sp>
    </p:spTree>
    <p:extLst>
      <p:ext uri="{BB962C8B-B14F-4D97-AF65-F5344CB8AC3E}">
        <p14:creationId xmlns:p14="http://schemas.microsoft.com/office/powerpoint/2010/main" val="1963607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4CE59B4-F481-42E6-AA16-EF7A3A9D87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CD753-434A-4779-81C2-5249687C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51" y="2817264"/>
            <a:ext cx="5245824" cy="584775"/>
          </a:xfrm>
        </p:spPr>
        <p:txBody>
          <a:bodyPr/>
          <a:lstStyle/>
          <a:p>
            <a:r>
              <a:rPr lang="en-US" dirty="0"/>
              <a:t>EPMN Shapes - Objects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C583B4-D048-4400-90A7-BF629D9F17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8683E-94AE-4B2C-AA14-5568CA6D62A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15100"/>
            <a:ext cx="609600" cy="228600"/>
          </a:xfrm>
        </p:spPr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445F7-EBE6-4B9A-9A19-E879FFA76A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15100"/>
            <a:ext cx="304800" cy="228600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76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89A3A03-857F-4674-BBDD-487485FB0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115226"/>
              </p:ext>
            </p:extLst>
          </p:nvPr>
        </p:nvGraphicFramePr>
        <p:xfrm>
          <a:off x="537459" y="1179332"/>
          <a:ext cx="10892541" cy="4898031"/>
        </p:xfrm>
        <a:graphic>
          <a:graphicData uri="http://schemas.openxmlformats.org/drawingml/2006/table">
            <a:tbl>
              <a:tblPr firstRow="1" bandRow="1"/>
              <a:tblGrid>
                <a:gridCol w="2494087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884962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7513492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&lt;This section provides the explanation of the objects and rules of usage&gt;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&lt;Use of words like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shall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will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, etc., stresses the mandatory nature of the rules&gt;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&lt;Explicit Property&gt;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/>
                        <a:t>&lt;Property of an object which shall be provided explicitly during modelling&gt;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&lt;Hidden Property&gt;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&lt;Hidden property is described in a gray text, this property is not provided explicitly by the user&gt;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731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&lt;This section provides general usage guidelines and good practices&gt;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&lt;Use of words like can and may etc., stresses the optional nature of these guidelines&gt;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A30FBEE-C41A-4595-AD85-4DDB1438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88062-92B2-417B-A100-DC3CA6ACA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C565F7-0EAF-49C5-AE01-7B0F3C5D992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37BE1-5910-40A9-BBAA-BCDFEDFEA8AA}"/>
              </a:ext>
            </a:extLst>
          </p:cNvPr>
          <p:cNvSpPr txBox="1"/>
          <p:nvPr/>
        </p:nvSpPr>
        <p:spPr>
          <a:xfrm>
            <a:off x="2238625" y="1787173"/>
            <a:ext cx="1543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And Alternate Representations are depicted here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29B3C-E125-4467-87CF-604517D857AA}"/>
              </a:ext>
            </a:extLst>
          </p:cNvPr>
          <p:cNvSpPr txBox="1"/>
          <p:nvPr/>
        </p:nvSpPr>
        <p:spPr>
          <a:xfrm>
            <a:off x="584291" y="1879507"/>
            <a:ext cx="1386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Objects Representation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54498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89A3A03-857F-4674-BBDD-487485FB0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51098"/>
              </p:ext>
            </p:extLst>
          </p:nvPr>
        </p:nvGraphicFramePr>
        <p:xfrm>
          <a:off x="644013" y="1120849"/>
          <a:ext cx="11343862" cy="5184278"/>
        </p:xfrm>
        <a:graphic>
          <a:graphicData uri="http://schemas.openxmlformats.org/drawingml/2006/table">
            <a:tbl>
              <a:tblPr firstRow="1" bandRow="1"/>
              <a:tblGrid>
                <a:gridCol w="2597427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723843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8022592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Uniphase is a small manageable phase of a process.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An iterative Uniphase is executed more than once in a Process.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It is a group of related activities, artefacts and guidance(s) with a common purpose.</a:t>
                      </a:r>
                    </a:p>
                    <a:p>
                      <a:pPr marL="285750" marR="0" lvl="0" indent="-285750" algn="l" defTabSz="10884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A Uniphase shall have at-least two (1 input and 1 output) artefacts</a:t>
                      </a:r>
                    </a:p>
                    <a:p>
                      <a:pPr marL="285750" marR="0" lvl="0" indent="-285750" algn="l" defTabSz="10884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A Uniphase shall have at-least three (2 Work and 1 Screen) activities.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Successful completion of a Uniphase will transform input(s) into a meaningful output artefact(s)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</a:rPr>
                        <a:t>A collection Uniphase (which has children Uniphase) shall have a screen activity at the collection Uniphase level.</a:t>
                      </a:r>
                      <a:endParaRPr lang="en-US" sz="16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A meaningful alpha numeric name. Don’t use special characters.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10884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 brief description, not less than two sentences.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731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Entry Criteria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Criteria that must be satisfied for the Uniphase to begin.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Exit Criteria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Criteria that must be satisfied for the Uniphase to conclude.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Avoid activities from more than two SDLCs in a single Uniphase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Process inputs and outputs shall not be associated with entry and exit criteria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A30FBEE-C41A-4595-AD85-4DDB1438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Uniphase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88062-92B2-417B-A100-DC3CA6ACA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C565F7-0EAF-49C5-AE01-7B0F3C5D992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74F082-141D-48E9-8E00-31AB9CCA2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57" y="1848218"/>
            <a:ext cx="815009" cy="5168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AA5F0C-5EB4-4E46-8136-2BC55C66B349}"/>
              </a:ext>
            </a:extLst>
          </p:cNvPr>
          <p:cNvSpPr txBox="1"/>
          <p:nvPr/>
        </p:nvSpPr>
        <p:spPr>
          <a:xfrm>
            <a:off x="811715" y="2429814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Uniphase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80756-DC18-49BA-8EEC-BCE9665AD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917" y="1751233"/>
            <a:ext cx="962025" cy="6381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C7BEBE-3414-4E7C-AFD8-5845429B1239}"/>
              </a:ext>
            </a:extLst>
          </p:cNvPr>
          <p:cNvSpPr txBox="1"/>
          <p:nvPr/>
        </p:nvSpPr>
        <p:spPr>
          <a:xfrm>
            <a:off x="2087917" y="2397238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Iterative Uniphase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1301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C506-6599-4917-B685-6D4EEB91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77137-1B45-418A-AE29-87375CEAFF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CAAF8B-F017-4BC9-9FEB-AB48D6EF8A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EB6989-8C20-4F22-9ACD-331252976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974581"/>
              </p:ext>
            </p:extLst>
          </p:nvPr>
        </p:nvGraphicFramePr>
        <p:xfrm>
          <a:off x="644012" y="1044102"/>
          <a:ext cx="11343862" cy="5068101"/>
        </p:xfrm>
        <a:graphic>
          <a:graphicData uri="http://schemas.openxmlformats.org/drawingml/2006/table">
            <a:tbl>
              <a:tblPr firstRow="1" bandRow="1"/>
              <a:tblGrid>
                <a:gridCol w="2597427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858613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7887822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 project activity which can be planned, assigned and tracked.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An iterative activity is executed more than once for each iteration of the Uniphase.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An activity is a next level de-composition of a Uniphase, hence an activity shall represent what to do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“how to do” shall be explained using its properties, like description and/or a connected guidance; like template, standards, etc.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Pseudo activities shall be depicted using “P_” prefix for the activity name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Pseudo activities are performed outside the project, but are needed to complete the process’s workflow.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Name</a:t>
                      </a:r>
                      <a:endParaRPr lang="en-US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A meaningful alpha numeric name. Don’t use special characters.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10884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An informative description, not less than two sentences.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7313">
                <a:tc>
                  <a:txBody>
                    <a:bodyPr/>
                    <a:lstStyle/>
                    <a:p>
                      <a:r>
                        <a:rPr lang="en-US" sz="1200" dirty="0"/>
                        <a:t>SDLC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The Life cycle stage to which the activity belongs.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r>
                        <a:rPr lang="en-US" sz="1200" dirty="0"/>
                        <a:t>Activity Type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Work, Review, Screen, Rework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marR="0" lvl="0" indent="-285750" algn="l" defTabSz="10884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Keep activity names, short, simple and meaningful.</a:t>
                      </a:r>
                    </a:p>
                    <a:p>
                      <a:pPr marL="285750" marR="0" lvl="0" indent="-285750" algn="l" defTabSz="10884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Use at-least 3 words in an activity name.</a:t>
                      </a:r>
                    </a:p>
                    <a:p>
                      <a:pPr marL="285750" marR="0" lvl="0" indent="-285750" algn="l" defTabSz="10884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Make use of iterative activities to demonstrate repetitive tasks.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A05068A-E4C3-4576-9946-4B00C2C09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46" y="1723778"/>
            <a:ext cx="809810" cy="5052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66313C-1C2D-4F62-9B31-C6D34E05CB26}"/>
              </a:ext>
            </a:extLst>
          </p:cNvPr>
          <p:cNvSpPr txBox="1"/>
          <p:nvPr/>
        </p:nvSpPr>
        <p:spPr>
          <a:xfrm>
            <a:off x="875197" y="2321195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Activity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FBB2A7-2B15-4C85-BAD2-61F89A183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165" y="1644266"/>
            <a:ext cx="981075" cy="657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8F6503-E2AF-4DD5-9101-644022706593}"/>
              </a:ext>
            </a:extLst>
          </p:cNvPr>
          <p:cNvSpPr txBox="1"/>
          <p:nvPr/>
        </p:nvSpPr>
        <p:spPr>
          <a:xfrm>
            <a:off x="2214404" y="2270813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Iterative Activity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1086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A399-4793-4B67-B82D-0E8100C0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Artefact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F5D23-A023-4C07-B873-36BDB2E0A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BD74F-244A-4957-893F-C55D1DD65DF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99A7B4-E1AE-4272-A54D-CF7AF77AB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598387"/>
              </p:ext>
            </p:extLst>
          </p:nvPr>
        </p:nvGraphicFramePr>
        <p:xfrm>
          <a:off x="581703" y="1106101"/>
          <a:ext cx="10936787" cy="4898031"/>
        </p:xfrm>
        <a:graphic>
          <a:graphicData uri="http://schemas.openxmlformats.org/drawingml/2006/table">
            <a:tbl>
              <a:tblPr firstRow="1" bandRow="1"/>
              <a:tblGrid>
                <a:gridCol w="2504218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2069812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6362757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Artefact is an outcome of engineering activity(</a:t>
                      </a:r>
                      <a:r>
                        <a:rPr lang="en-US" sz="1600" dirty="0" err="1"/>
                        <a:t>ies</a:t>
                      </a:r>
                      <a:r>
                        <a:rPr lang="en-US" sz="1600" dirty="0"/>
                        <a:t>).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It can be an input or output in the engineering process.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Artefact represents the data flow between Uniphase.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An artefact shall be either a configuration item or a non-configuration item.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/>
                        <a:t>A meaningful alpha numeric name. Don’t use special characters.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/>
                        <a:t>An informative description, not less than two sentences.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731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Destination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Activities and/or Uniphase(s) where the artefact flows in as input.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Source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Activities and/or Uniphase(s) where the artefact flows out as output.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Don’t create artefacts for intermediate outcomes.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Artefacts are outcome of engineering activities, hence they are different from guidance (like templates, checklists) which are tools and methods to perform the engineering activities.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4469FD-DE84-481F-94D3-1A26A0AF5337}"/>
              </a:ext>
            </a:extLst>
          </p:cNvPr>
          <p:cNvSpPr txBox="1"/>
          <p:nvPr/>
        </p:nvSpPr>
        <p:spPr>
          <a:xfrm>
            <a:off x="849815" y="2221546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Artefact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E7EE8D-E8FE-406A-9D73-F75EC1A7504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15" y="1706265"/>
            <a:ext cx="1066800" cy="5152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9571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00C1-BD45-40C6-AB1F-BB95E9F6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3B88B-1119-419A-B404-5CD66E3D5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D5EF3-9CE6-4E77-AB7D-F63F9B019E5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518DB3-DF49-445F-9BC4-732A26133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284515"/>
              </p:ext>
            </p:extLst>
          </p:nvPr>
        </p:nvGraphicFramePr>
        <p:xfrm>
          <a:off x="552207" y="1038730"/>
          <a:ext cx="10966283" cy="4898031"/>
        </p:xfrm>
        <a:graphic>
          <a:graphicData uri="http://schemas.openxmlformats.org/drawingml/2006/table">
            <a:tbl>
              <a:tblPr firstRow="1" bandRow="1"/>
              <a:tblGrid>
                <a:gridCol w="2510972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2075394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6379917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Guidance is an enabler to perform the activities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Guidance can be in the form of templates, checklists, instructions manual, training material, etc.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/>
                        <a:t>A meaningful alpha numeric name. Don’t use special characters.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/>
                        <a:t>An informative description, not less than two sentences.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731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Destination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10884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Activities and/or Uniphase(s) where the artefact flows in as input.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Identify all applicable guidance from the SDPM.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For project specific needs, create new guidance as needed.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D9E4A06-0615-4036-B8B1-7DF90F5A8740}"/>
              </a:ext>
            </a:extLst>
          </p:cNvPr>
          <p:cNvSpPr txBox="1"/>
          <p:nvPr/>
        </p:nvSpPr>
        <p:spPr>
          <a:xfrm>
            <a:off x="846279" y="2210322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Guidance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D47C7B-6051-4655-BC76-F7EC61EEA48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92" y="1742491"/>
            <a:ext cx="1221837" cy="4678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0177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F7F6-BEEA-4E16-9FD2-A5640479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FFFD4-984F-4A09-8A09-EAE7FFC3D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F67E3-DA5C-4F6B-880C-7FB57F28D1A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F70534-6FE6-43FF-929D-4F37F968B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483559"/>
              </p:ext>
            </p:extLst>
          </p:nvPr>
        </p:nvGraphicFramePr>
        <p:xfrm>
          <a:off x="537459" y="1038091"/>
          <a:ext cx="11117083" cy="5158458"/>
        </p:xfrm>
        <a:graphic>
          <a:graphicData uri="http://schemas.openxmlformats.org/drawingml/2006/table">
            <a:tbl>
              <a:tblPr firstRow="1" bandRow="1"/>
              <a:tblGrid>
                <a:gridCol w="2545501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1405136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7166446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71230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717240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Role represents a personnel resource or department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Role can be assigned an activity with following RASIC relationship. </a:t>
                      </a:r>
                    </a:p>
                    <a:p>
                      <a:pPr marL="83000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“Responsible”/“Accountable”/“Support”/ “Informed”/“Consulted”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circular role helps in easy diagramming and simplification of views.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5412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320163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/>
                        <a:t>A meaningful alpha numeric name. Don’t use special characters.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320163"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/>
                        <a:t>An informative description, not less than two sentences.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32016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35412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1251548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Be clear in the difference between Designation and Role.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Don’t create multiple roles with similar sounding names.</a:t>
                      </a:r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04F82F4-07B4-40DF-88BB-394266412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15" y="1732554"/>
            <a:ext cx="1446972" cy="5297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EB668C-2990-4480-8C9B-EAB616AEA56A}"/>
              </a:ext>
            </a:extLst>
          </p:cNvPr>
          <p:cNvSpPr txBox="1"/>
          <p:nvPr/>
        </p:nvSpPr>
        <p:spPr>
          <a:xfrm>
            <a:off x="998355" y="2325840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Role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80BA7-07C7-4901-B6FF-2506257BC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126" y="1682499"/>
            <a:ext cx="532176" cy="6433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551FA7-240A-4D15-A084-41E1B05ADCEB}"/>
              </a:ext>
            </a:extLst>
          </p:cNvPr>
          <p:cNvSpPr txBox="1"/>
          <p:nvPr/>
        </p:nvSpPr>
        <p:spPr>
          <a:xfrm>
            <a:off x="2584727" y="2309615"/>
            <a:ext cx="119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Circular </a:t>
            </a:r>
          </a:p>
          <a:p>
            <a:pPr algn="ctr"/>
            <a:r>
              <a:rPr lang="en-US" sz="1200" b="1" dirty="0"/>
              <a:t>Role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08349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90E20-1FC0-47C9-9A17-859C858D94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EPMN Shapes - Relationships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A838D2-5E8D-4587-B31F-F8285C80DB9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Basic SDPM - Process &amp; EPMN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57561-B8DE-455F-B485-0823BEB2399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15100"/>
            <a:ext cx="609600" cy="228600"/>
          </a:xfrm>
        </p:spPr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26DDF-8979-4418-AFA0-106DA3CD38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15100"/>
            <a:ext cx="304800" cy="228600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04F71642-4D11-4AF7-9E7F-424E9B9DF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>
            <a:fillRect/>
          </a:stretch>
        </p:blipFill>
        <p:spPr>
          <a:xfrm>
            <a:off x="0" y="0"/>
            <a:ext cx="58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57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F6CE-FA0A-4047-87E2-421F7F12E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DEBE3-7DBE-4413-BBFA-18CDE64F6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4054E-F85B-48F0-99BD-B7FDF2A688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CCA221-C200-4889-9660-9A0272014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82273"/>
              </p:ext>
            </p:extLst>
          </p:nvPr>
        </p:nvGraphicFramePr>
        <p:xfrm>
          <a:off x="585014" y="1029648"/>
          <a:ext cx="11069528" cy="4806591"/>
        </p:xfrm>
        <a:graphic>
          <a:graphicData uri="http://schemas.openxmlformats.org/drawingml/2006/table">
            <a:tbl>
              <a:tblPr firstRow="1" bandRow="1"/>
              <a:tblGrid>
                <a:gridCol w="2534612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1312779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7222137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Control Flow depicts the sequence of activities and/or Uniphase(s)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Control Flow represents the path(s) of process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pre-requisite connection requires the predecessor Activity or Uniphase to be completed(100%) before starting the next Activity or Uniphase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Path of execution can be split using gates.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Connection From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 source activity or Uniphase of control flow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Connection To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 destination activity or Uniphase of control flow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731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At project level, try to keep the number of parallel paths, limited to 3</a:t>
                      </a:r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FF22B53-7CD7-4CD6-9477-8188E1DBEA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58" b="24437"/>
          <a:stretch/>
        </p:blipFill>
        <p:spPr>
          <a:xfrm rot="10800000">
            <a:off x="824808" y="1658028"/>
            <a:ext cx="1339391" cy="3540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608D1D-2ED4-4036-82A2-1652ABE9560B}"/>
              </a:ext>
            </a:extLst>
          </p:cNvPr>
          <p:cNvSpPr txBox="1"/>
          <p:nvPr/>
        </p:nvSpPr>
        <p:spPr>
          <a:xfrm>
            <a:off x="920132" y="2012055"/>
            <a:ext cx="1148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Control 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9F02B2-D673-49CE-927B-5E208D1FF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825" y="1718599"/>
            <a:ext cx="1528296" cy="232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1304C4-410D-4221-9326-8BC363EC42C3}"/>
              </a:ext>
            </a:extLst>
          </p:cNvPr>
          <p:cNvSpPr txBox="1"/>
          <p:nvPr/>
        </p:nvSpPr>
        <p:spPr>
          <a:xfrm>
            <a:off x="2788927" y="1964869"/>
            <a:ext cx="1243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Pre-Requisite Control Flow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52746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9A97-548A-4C17-A836-4B6CB46AF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-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5085A2-9544-4F55-97B8-19BE4CA3E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106E6-B74D-455D-AEBC-B0B7908AC21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3D1E3-5D0E-4581-89B6-D941372BA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96" y="1280191"/>
            <a:ext cx="15335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76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BADAC-F331-43A3-868E-C858DF62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9DF33-B0F3-43C4-A686-4F6AC6377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5EB65-588A-4353-AC9E-D17B97646D3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AD0C89-756F-4D01-A264-8F13DE26A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175032"/>
              </p:ext>
            </p:extLst>
          </p:nvPr>
        </p:nvGraphicFramePr>
        <p:xfrm>
          <a:off x="615482" y="1076605"/>
          <a:ext cx="10932507" cy="5141871"/>
        </p:xfrm>
        <a:graphic>
          <a:graphicData uri="http://schemas.openxmlformats.org/drawingml/2006/table">
            <a:tbl>
              <a:tblPr firstRow="1" bandRow="1"/>
              <a:tblGrid>
                <a:gridCol w="2503238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2671233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5758036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Data Flow describes the data in form of artefacts to flow between Activities or Uniphase(s).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pre-requisite input connection for data flow requires the artefact coming as input be stored/checked-in.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Connection From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 source Artefact, Activity and/or Uniphase of data flow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Connection To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 destination Artefact, Activity and/or Uniphase of data flow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731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 data flow to achieve the desired SDP Architecture.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Don’t clutter all views with data flow connection. (Model the data connections using lanes or in background models)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9995ED3-EEE4-4748-9204-EC3324D1BE41}"/>
              </a:ext>
            </a:extLst>
          </p:cNvPr>
          <p:cNvSpPr txBox="1"/>
          <p:nvPr/>
        </p:nvSpPr>
        <p:spPr>
          <a:xfrm>
            <a:off x="644320" y="2174157"/>
            <a:ext cx="1148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Data Flow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B7EA5C-97F8-48FC-A652-E7DCDA59DF5A}"/>
              </a:ext>
            </a:extLst>
          </p:cNvPr>
          <p:cNvSpPr txBox="1"/>
          <p:nvPr/>
        </p:nvSpPr>
        <p:spPr>
          <a:xfrm>
            <a:off x="1637070" y="2309053"/>
            <a:ext cx="1243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Input Connection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859764-FD95-4D61-A12E-D0F0FEAEAB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369" b="2064"/>
          <a:stretch/>
        </p:blipFill>
        <p:spPr>
          <a:xfrm>
            <a:off x="1867113" y="1706745"/>
            <a:ext cx="766956" cy="6023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4DDCAE-369B-4541-AECC-882889027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70" y="1950401"/>
            <a:ext cx="687242" cy="1153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AC6194-2381-408A-82E4-FCAFB05645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655" b="-841"/>
          <a:stretch/>
        </p:blipFill>
        <p:spPr>
          <a:xfrm>
            <a:off x="3185065" y="1694277"/>
            <a:ext cx="775047" cy="6201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70A02D-2E09-48AE-829D-1B9DC5D04AD7}"/>
              </a:ext>
            </a:extLst>
          </p:cNvPr>
          <p:cNvSpPr txBox="1"/>
          <p:nvPr/>
        </p:nvSpPr>
        <p:spPr>
          <a:xfrm>
            <a:off x="2952196" y="2307764"/>
            <a:ext cx="1243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Output Connection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82FD9A-E2CE-44DA-80D4-1EB8D0B835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" r="52102" b="1186"/>
          <a:stretch/>
        </p:blipFill>
        <p:spPr>
          <a:xfrm>
            <a:off x="4390153" y="1706745"/>
            <a:ext cx="787785" cy="6077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9D2EDF-FD07-4453-B44A-C34E2B350BBA}"/>
              </a:ext>
            </a:extLst>
          </p:cNvPr>
          <p:cNvSpPr txBox="1"/>
          <p:nvPr/>
        </p:nvSpPr>
        <p:spPr>
          <a:xfrm>
            <a:off x="4267322" y="2342329"/>
            <a:ext cx="1243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Pre-Requisite Input Connection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87772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21AFB-40DB-4547-8434-C80F29A39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-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992B33-CDD1-49B4-822A-928A0B6F7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8F6B-5E28-4BA2-B227-F040EDB4749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BC7B8-C447-43B8-9109-EE3384381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09" y="1167273"/>
            <a:ext cx="46767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33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38F37-14CE-40DB-B423-FB67401C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RASIC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EFE6B-1FFC-436A-8281-28D73F305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AA1D2-675C-44F2-9D4F-3EA0D792C9F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338310-EDFA-4A36-B065-F6BC5409D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39276"/>
              </p:ext>
            </p:extLst>
          </p:nvPr>
        </p:nvGraphicFramePr>
        <p:xfrm>
          <a:off x="537459" y="1004877"/>
          <a:ext cx="11117083" cy="5322696"/>
        </p:xfrm>
        <a:graphic>
          <a:graphicData uri="http://schemas.openxmlformats.org/drawingml/2006/table">
            <a:tbl>
              <a:tblPr firstRow="1" bandRow="1"/>
              <a:tblGrid>
                <a:gridCol w="2545501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1090834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7480748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388098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RASIC flow establishes the relationship between a Role and an Activity.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Role can be assigned an activity with following RASIC relationship. </a:t>
                      </a:r>
                    </a:p>
                    <a:p>
                      <a:pPr marL="83000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“Responsible”/“Accountable”/“Support”/ “Informed”/“Consulted”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RASIC Type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RASIC connection can be for “Responsible”/“Accountable”/“Support”/ “Informed”/“Consulted”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Connection From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 source Role of the RASIC Flow.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731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Connection To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 destination Activity of the RASIC Flow.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Be clear of the difference between Support and Consulted</a:t>
                      </a:r>
                    </a:p>
                    <a:p>
                      <a:pPr marL="83000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support role will contribute in the activity by some sort of participation</a:t>
                      </a:r>
                    </a:p>
                    <a:p>
                      <a:pPr marL="83000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consulted role only provides oral/written advice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Be clear of the difference between Responsible and Accountable</a:t>
                      </a:r>
                    </a:p>
                    <a:p>
                      <a:pPr marL="83000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responsible person executes the activity. </a:t>
                      </a:r>
                    </a:p>
                    <a:p>
                      <a:pPr marL="83000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An accountable person ensures execution of the activity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3D70293-4124-4067-9F74-3E5B0EA0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65" y="1373781"/>
            <a:ext cx="1355678" cy="4719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06B6D9-03E1-462C-A0A6-E54EE0C7BB90}"/>
              </a:ext>
            </a:extLst>
          </p:cNvPr>
          <p:cNvSpPr txBox="1"/>
          <p:nvPr/>
        </p:nvSpPr>
        <p:spPr>
          <a:xfrm>
            <a:off x="514065" y="1751292"/>
            <a:ext cx="1148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RASIC Flow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301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F3B53-B408-4305-916A-2A65B567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RASIC Flow -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97513-4112-40BC-AF9C-EBCEE94CB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A8C04-034A-4AB9-B195-B4737AE6A98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1F878-6827-4321-BAC4-4670FC1D7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97" y="965713"/>
            <a:ext cx="5105400" cy="4248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E816F3-66F5-472B-A4E8-9C25E36257F2}"/>
              </a:ext>
            </a:extLst>
          </p:cNvPr>
          <p:cNvSpPr txBox="1"/>
          <p:nvPr/>
        </p:nvSpPr>
        <p:spPr>
          <a:xfrm>
            <a:off x="372396" y="5213863"/>
            <a:ext cx="998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It looks complex in current form, it will get refined in next slides.</a:t>
            </a:r>
          </a:p>
        </p:txBody>
      </p:sp>
    </p:spTree>
    <p:extLst>
      <p:ext uri="{BB962C8B-B14F-4D97-AF65-F5344CB8AC3E}">
        <p14:creationId xmlns:p14="http://schemas.microsoft.com/office/powerpoint/2010/main" val="1887097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279AA4-C544-4470-88EB-458E87EE34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EPMN Shapes - Gates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17B1B-5511-4C0B-9D16-4A244BD78F4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Basic SDPM - Process &amp; EPMN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38882-B0BB-4D4B-9A28-D6F68B3BE9C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 flipH="1">
            <a:off x="11325225" y="6556375"/>
            <a:ext cx="866775" cy="238125"/>
          </a:xfrm>
        </p:spPr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45CA5-5D06-4E73-B510-0B015CEAA5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28450" y="6556375"/>
            <a:ext cx="463550" cy="238125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9D93B923-FC0A-4B7A-AC0D-104D8EDEC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>
            <a:fillRect/>
          </a:stretch>
        </p:blipFill>
        <p:spPr>
          <a:xfrm>
            <a:off x="0" y="0"/>
            <a:ext cx="58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96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C3CE-C586-40CD-A998-F953ACD0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EA184-269E-40CE-8641-177C947A0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5FD52-D1C3-4A9A-9767-A5826B7C7A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6E5E8F-EA59-4C88-96D7-EE740C626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259770"/>
              </p:ext>
            </p:extLst>
          </p:nvPr>
        </p:nvGraphicFramePr>
        <p:xfrm>
          <a:off x="648928" y="1106101"/>
          <a:ext cx="10896493" cy="5050431"/>
        </p:xfrm>
        <a:graphic>
          <a:graphicData uri="http://schemas.openxmlformats.org/drawingml/2006/table">
            <a:tbl>
              <a:tblPr firstRow="1" bandRow="1"/>
              <a:tblGrid>
                <a:gridCol w="2494992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2062186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6339315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Start Gate is a declaration for a sequence of engineering process which can be composed of Uniphase(s) and/or Activities.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Start gates begins a single path of process execution, use intermediate gates to split the process path.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Successor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An Activity or Uniphase from which the process sequence begins.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There can be more than one start gates in a single engineering process.</a:t>
                      </a:r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1FAF0D5-BFDB-419C-BC8E-D78D99B89015}"/>
              </a:ext>
            </a:extLst>
          </p:cNvPr>
          <p:cNvSpPr txBox="1"/>
          <p:nvPr/>
        </p:nvSpPr>
        <p:spPr>
          <a:xfrm>
            <a:off x="835741" y="2230873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START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BDDD9A-30DC-416A-ADE4-BF0341598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01" y="1706265"/>
            <a:ext cx="572772" cy="52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63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EB5B-D2AA-4B30-9971-AFC9397B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8265F-8701-47A6-8167-E7EE505E5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7FA258-A74C-40BF-89E4-A79278F355B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48A203-5880-46AE-ABEC-EA219636C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979543"/>
              </p:ext>
            </p:extLst>
          </p:nvPr>
        </p:nvGraphicFramePr>
        <p:xfrm>
          <a:off x="611200" y="1023982"/>
          <a:ext cx="10922040" cy="5050431"/>
        </p:xfrm>
        <a:graphic>
          <a:graphicData uri="http://schemas.openxmlformats.org/drawingml/2006/table">
            <a:tbl>
              <a:tblPr firstRow="1" bandRow="1"/>
              <a:tblGrid>
                <a:gridCol w="2500842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2067021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6354177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END Gate depicts the end/finish of a sequence of activities or Uniphase.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An END gate can finish only a single path of process execution.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Predecessor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An Activity or Uniphase which finishes the process sequence.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marR="0" lvl="0" indent="-285750" algn="l" defTabSz="108849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There can be more than one end gates in a single engineering process.</a:t>
                      </a:r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7B4433E-A965-48F9-A0ED-4808159B75AD}"/>
              </a:ext>
            </a:extLst>
          </p:cNvPr>
          <p:cNvSpPr txBox="1"/>
          <p:nvPr/>
        </p:nvSpPr>
        <p:spPr>
          <a:xfrm>
            <a:off x="713825" y="2189878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END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FECA01-F214-4F43-9A5B-F0A10C5DC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80" y="1581724"/>
            <a:ext cx="610869" cy="60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40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3AA3-8CCC-4B85-B3E4-52A42108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0B8C0-1F7C-428F-BB82-56C1EEFCB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989A2A-D213-4E35-91BE-B382827C134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B0D2BF-D585-44B9-941D-297421D7C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275602"/>
              </p:ext>
            </p:extLst>
          </p:nvPr>
        </p:nvGraphicFramePr>
        <p:xfrm>
          <a:off x="594325" y="1014899"/>
          <a:ext cx="11054334" cy="5050431"/>
        </p:xfrm>
        <a:graphic>
          <a:graphicData uri="http://schemas.openxmlformats.org/drawingml/2006/table">
            <a:tbl>
              <a:tblPr firstRow="1" bandRow="1"/>
              <a:tblGrid>
                <a:gridCol w="2531133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2092058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6431143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AND Gate splits the sequence of activities into multiple paths.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All split process paths shall be traversed (mandatorily).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All paths split using AND Gate shall be joined with an AND Gate.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Predecessor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Activity(</a:t>
                      </a:r>
                      <a:r>
                        <a:rPr lang="en-US" sz="16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ies</a:t>
                      </a: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 or Uniphase(s) which are forked or joined.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Successor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Activity(</a:t>
                      </a:r>
                      <a:r>
                        <a:rPr lang="en-US" sz="16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ies</a:t>
                      </a: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 or Uniphase(s) which are forked or joined.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All split paths need not join, some paths may have their own END.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 AND Gate to depict parallel operations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 AND Gate with data flow to depict in-coordination operations</a:t>
                      </a:r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6A0AA05-0CCD-4DDF-AF0B-1031D277B181}"/>
              </a:ext>
            </a:extLst>
          </p:cNvPr>
          <p:cNvSpPr txBox="1"/>
          <p:nvPr/>
        </p:nvSpPr>
        <p:spPr>
          <a:xfrm>
            <a:off x="588442" y="2207394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AND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770C2D-9BA0-47BB-A790-13368DB0F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55" y="1615063"/>
            <a:ext cx="581266" cy="57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015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4011-6AC9-4A73-8F2B-107AD6B0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Gates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06D37C-2DC1-40A9-856E-CC2FABAA30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8F16B-3B1C-4470-A098-3CF651024DF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3A5F68-F23B-4288-9625-BA8634ADA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896" y="388425"/>
            <a:ext cx="3559757" cy="572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32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2B6EF-A442-42E4-AB57-D8D7837E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7399F-3092-4053-9E5F-AAB6D3608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3C8869-107A-447A-8A64-0934C2696E5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170686-F067-469A-AFF1-A3AF5B180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014389"/>
              </p:ext>
            </p:extLst>
          </p:nvPr>
        </p:nvGraphicFramePr>
        <p:xfrm>
          <a:off x="581703" y="1016516"/>
          <a:ext cx="10966283" cy="5050431"/>
        </p:xfrm>
        <a:graphic>
          <a:graphicData uri="http://schemas.openxmlformats.org/drawingml/2006/table">
            <a:tbl>
              <a:tblPr firstRow="1" bandRow="1"/>
              <a:tblGrid>
                <a:gridCol w="2510972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1700550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6754761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OR Gate splits the sequence of activities into multiple paths.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One or more process paths can be traversed depending on the conditions.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All paths split using OR Gate shall be joined with an OR Gate.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At-least one process path shall be traversed in an OR Gate.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Predecessor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Activity(</a:t>
                      </a:r>
                      <a:r>
                        <a:rPr lang="en-US" sz="16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ies</a:t>
                      </a: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 or Uniphase(s) which are forked or joined.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Successor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Activity(</a:t>
                      </a:r>
                      <a:r>
                        <a:rPr lang="en-US" sz="16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ies</a:t>
                      </a: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 or Uniphase(s) which are forked or joined.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All split paths need not join, some paths may have their own END.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 OR Gate to depict condition based parallel/in-coordination operations.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Don’t use OR Gate for binary(Yes or No) decisions.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E74DC8B-EE8A-4F48-ABA1-CCA5274B42A2}"/>
              </a:ext>
            </a:extLst>
          </p:cNvPr>
          <p:cNvSpPr txBox="1"/>
          <p:nvPr/>
        </p:nvSpPr>
        <p:spPr>
          <a:xfrm>
            <a:off x="783944" y="2152336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OR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73DB8A-07B2-449F-B7B5-BA70B8751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57" y="1557688"/>
            <a:ext cx="583593" cy="5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25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ADFA-461E-4F1F-A535-3DA0871C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Gates Example Cont..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E0F8E7-9324-4321-9AB6-E153EBAAA7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6118B-640D-41F6-A29A-6478F6D037F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879B3-B440-40AE-B651-42DC51867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683" y="308333"/>
            <a:ext cx="4872466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22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A84FF-8206-476D-A2BF-4A68664D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E9EAC-E0D4-4700-8828-A7AB1D6E2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0AC8A-9BEB-4B05-ABAA-010BA33F40F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4D4C99-9A83-4538-BF7A-063C11019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742983"/>
              </p:ext>
            </p:extLst>
          </p:nvPr>
        </p:nvGraphicFramePr>
        <p:xfrm>
          <a:off x="611199" y="1106101"/>
          <a:ext cx="11043343" cy="5050431"/>
        </p:xfrm>
        <a:graphic>
          <a:graphicData uri="http://schemas.openxmlformats.org/drawingml/2006/table">
            <a:tbl>
              <a:tblPr firstRow="1" bandRow="1"/>
              <a:tblGrid>
                <a:gridCol w="2528617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1639896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6874830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XOR Gate splits the sequence of activities into multiple paths.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But only one path shall be traversed depending on the condition.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All paths split using XOR Gate shall be joined with an XOR Gate.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Predecessor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Activity(</a:t>
                      </a:r>
                      <a:r>
                        <a:rPr lang="en-US" sz="16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ies</a:t>
                      </a: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 or Uniphase(s) which are forked or joined.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Successor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Activity(</a:t>
                      </a:r>
                      <a:r>
                        <a:rPr lang="en-US" sz="16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ies</a:t>
                      </a:r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 or Uniphase(s) which are forked or joined.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731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2338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All split paths need not join, some process paths may have their own END.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 XOR Gate for binary (yes or no) decisions.</a:t>
                      </a:r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79EFE9-41EE-42A3-A898-30B755881B59}"/>
              </a:ext>
            </a:extLst>
          </p:cNvPr>
          <p:cNvSpPr txBox="1"/>
          <p:nvPr/>
        </p:nvSpPr>
        <p:spPr>
          <a:xfrm>
            <a:off x="839470" y="2317100"/>
            <a:ext cx="95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XOR </a:t>
            </a:r>
          </a:p>
          <a:p>
            <a:pPr algn="ctr"/>
            <a:r>
              <a:rPr lang="en-US" sz="1200" b="1" dirty="0"/>
              <a:t>Gate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23CFD3-8535-4FDE-9194-F2B684FE1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72" y="1706265"/>
            <a:ext cx="613561" cy="61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83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AD5B-34E9-4A92-BA16-B1F82AA7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Gates Example Cont. …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BA7CB7-B3DA-40C2-B90C-2439FB1E57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49A25-2EE6-4732-B1DC-9BC6798BAE0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DE61D-F0E8-40C6-A4BF-8126C42C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114" y="234429"/>
            <a:ext cx="4718524" cy="593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794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72A78-E75B-4760-81DF-5083D189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EPMN Shapes - Others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C1FA24-6736-4D19-B725-14E4D48CA76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Basic SDPM - Process &amp; EPMN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9D0E8-C2D2-4C28-92E0-73F3178D03E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15100"/>
            <a:ext cx="609600" cy="228600"/>
          </a:xfrm>
        </p:spPr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1FE30-DCB1-4DEB-9D77-6B51725626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15100"/>
            <a:ext cx="304800" cy="228600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4E0B392D-F72A-4C21-B1E3-43D731922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>
            <a:fillRect/>
          </a:stretch>
        </p:blipFill>
        <p:spPr>
          <a:xfrm>
            <a:off x="0" y="0"/>
            <a:ext cx="58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228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E1EE-5E5B-4FE9-8771-00E7EC53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01E7D-5581-4565-ACB7-91389DC08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E5642-33DA-412E-9033-3AA41DF99D3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394AED-666F-4E18-B0B0-523D0202E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371627"/>
              </p:ext>
            </p:extLst>
          </p:nvPr>
        </p:nvGraphicFramePr>
        <p:xfrm>
          <a:off x="596452" y="1106101"/>
          <a:ext cx="10981033" cy="5050431"/>
        </p:xfrm>
        <a:graphic>
          <a:graphicData uri="http://schemas.openxmlformats.org/drawingml/2006/table">
            <a:tbl>
              <a:tblPr firstRow="1" bandRow="1"/>
              <a:tblGrid>
                <a:gridCol w="2514349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2078186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6388498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 Note provide textual explanation in an EPMN diagram.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Control Flow is used to establish a connection from Note to any object.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Connection To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Any destination object which the notes is ascribed to.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25333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8668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It is not mandatory to add a connection to note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 note only to describe explanation on the diagram,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 respective object’s description property to add any explanation regarding the objects.</a:t>
                      </a:r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B02E1E7-B9CB-4CBA-95F7-F436CEBB0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79" y="1824634"/>
            <a:ext cx="1478843" cy="4140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01CAA8-DD4A-414B-95DF-50438EB0D086}"/>
              </a:ext>
            </a:extLst>
          </p:cNvPr>
          <p:cNvSpPr txBox="1"/>
          <p:nvPr/>
        </p:nvSpPr>
        <p:spPr>
          <a:xfrm>
            <a:off x="1095490" y="2261220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Note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50442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5CBC-F64E-4847-BB18-B02EC7AB5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Lane (of association)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C7E04-2020-44D0-A783-FF4BD7745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8F5F3-B132-4146-A233-5914E215913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AAA71ED-8F0A-4F74-A503-A1718E888FF0}" type="datetime1">
              <a:rPr lang="en-US" smtClean="0"/>
              <a:pPr/>
              <a:t>1/7/2020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DDEAF4-713A-45FD-91B4-9C3E8BAC3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860901"/>
              </p:ext>
            </p:extLst>
          </p:nvPr>
        </p:nvGraphicFramePr>
        <p:xfrm>
          <a:off x="579243" y="1118139"/>
          <a:ext cx="11189970" cy="4909958"/>
        </p:xfrm>
        <a:graphic>
          <a:graphicData uri="http://schemas.openxmlformats.org/drawingml/2006/table">
            <a:tbl>
              <a:tblPr firstRow="1" bandRow="1"/>
              <a:tblGrid>
                <a:gridCol w="2562190">
                  <a:extLst>
                    <a:ext uri="{9D8B030D-6E8A-4147-A177-3AD203B41FA5}">
                      <a16:colId xmlns:a16="http://schemas.microsoft.com/office/drawing/2014/main" val="1865990548"/>
                    </a:ext>
                  </a:extLst>
                </a:gridCol>
                <a:gridCol w="1239769">
                  <a:extLst>
                    <a:ext uri="{9D8B030D-6E8A-4147-A177-3AD203B41FA5}">
                      <a16:colId xmlns:a16="http://schemas.microsoft.com/office/drawing/2014/main" val="3713705702"/>
                    </a:ext>
                  </a:extLst>
                </a:gridCol>
                <a:gridCol w="7388011">
                  <a:extLst>
                    <a:ext uri="{9D8B030D-6E8A-4147-A177-3AD203B41FA5}">
                      <a16:colId xmlns:a16="http://schemas.microsoft.com/office/drawing/2014/main" val="2384188020"/>
                    </a:ext>
                  </a:extLst>
                </a:gridCol>
              </a:tblGrid>
              <a:tr h="388758">
                <a:tc gridSpan="2">
                  <a:txBody>
                    <a:bodyPr/>
                    <a:lstStyle/>
                    <a:p>
                      <a:r>
                        <a:rPr lang="en-US" sz="1800" b="1" dirty="0"/>
                        <a:t>Object’s Representation(s)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146933"/>
                  </a:ext>
                </a:extLst>
              </a:tr>
              <a:tr h="1603513"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This is called Lane of association.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All objects in a lane will have (or imply) a default relationship with each other.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An explicit relationship established using Control Flow, Data Flow and/or RASIC Flow will overrule the default relationship.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Objects of same type in a lane, will not have any implied relationship.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For Example, If a Role and an activity is added in a lane, by default a relationship between this role and activity shall be implied as responsible, unless specified as other using a RASIC Connection.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7588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Properties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9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Composed Of</a:t>
                      </a:r>
                      <a:endParaRPr 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All objects which the lane is composed of.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012713"/>
                  </a:ext>
                </a:extLst>
              </a:tr>
              <a:tr h="28006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25342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dirty="0"/>
                        <a:t>General Guidelines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394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 Lanes to create complex process maps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 circular roles in Lanes to describe additional RASIC Connections.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4924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C6EBF10-391C-4E39-B8D2-32B09D26A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4" y="1662402"/>
            <a:ext cx="532575" cy="956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7B7201-5E70-4D48-9A44-C8B3C5017EF7}"/>
              </a:ext>
            </a:extLst>
          </p:cNvPr>
          <p:cNvSpPr txBox="1"/>
          <p:nvPr/>
        </p:nvSpPr>
        <p:spPr>
          <a:xfrm>
            <a:off x="696725" y="2619290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Lane 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3BD0C5-9598-4FAE-9DF2-BB7495009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57918" y="1662403"/>
            <a:ext cx="532575" cy="9568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34D9EB-B38A-4417-8B7B-AB235ABCCF8A}"/>
              </a:ext>
            </a:extLst>
          </p:cNvPr>
          <p:cNvSpPr txBox="1"/>
          <p:nvPr/>
        </p:nvSpPr>
        <p:spPr>
          <a:xfrm>
            <a:off x="2191942" y="2619289"/>
            <a:ext cx="958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Lane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343494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01EC-7E82-4EC7-A481-5946D1F3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Lanes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5BFCE-44BC-4965-8AD9-66AC03CB3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472BB-ABA1-4D8E-BF6C-BE53C508604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E4554-8DB5-4862-823F-F34C9AFD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66" y="1106101"/>
            <a:ext cx="7007335" cy="497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09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6B27225-3A5E-4B4B-BA32-D3874E8309F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9495FC1-60A4-4937-B81C-AF78F746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Process in SDPS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00D88A-A2CA-42C8-96C2-5C2BAF19E9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28450" y="6327775"/>
            <a:ext cx="463550" cy="238125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76E72-4A3B-4870-A7C4-832930A3C37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1325225" y="6327775"/>
            <a:ext cx="866775" cy="238125"/>
          </a:xfrm>
        </p:spPr>
        <p:txBody>
          <a:bodyPr/>
          <a:lstStyle/>
          <a:p>
            <a:fld id="{347DFF8D-94D4-43DD-8BFB-E5E31B38334E}" type="datetime1">
              <a:rPr lang="en-US" smtClean="0"/>
              <a:pPr/>
              <a:t>1/7/2020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8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1E107F-24BD-4A2B-BA74-64ACB6475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A3155-2D7F-4B80-8151-7D015737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52" y="1629855"/>
            <a:ext cx="3105150" cy="4276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CF4B23-3D34-4563-9B5A-4F913F6336DC}"/>
              </a:ext>
            </a:extLst>
          </p:cNvPr>
          <p:cNvSpPr txBox="1"/>
          <p:nvPr/>
        </p:nvSpPr>
        <p:spPr>
          <a:xfrm>
            <a:off x="561362" y="958645"/>
            <a:ext cx="11048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  <a:r>
              <a:rPr lang="en-US" dirty="0"/>
              <a:t>oftware </a:t>
            </a:r>
            <a:r>
              <a:rPr lang="en-US" b="1" dirty="0"/>
              <a:t>D</a:t>
            </a:r>
            <a:r>
              <a:rPr lang="en-US" dirty="0"/>
              <a:t>evelopment </a:t>
            </a:r>
            <a:r>
              <a:rPr lang="en-US" b="1" dirty="0"/>
              <a:t>P</a:t>
            </a:r>
            <a:r>
              <a:rPr lang="en-US" dirty="0"/>
              <a:t>rocess </a:t>
            </a:r>
            <a:r>
              <a:rPr lang="en-US" b="1" dirty="0"/>
              <a:t>S</a:t>
            </a:r>
            <a:r>
              <a:rPr lang="en-US" dirty="0"/>
              <a:t>pecifications is the project’s apex manual which defines the project’s process and the management plan.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6755A-6946-463C-9720-C9BA4863B728}"/>
              </a:ext>
            </a:extLst>
          </p:cNvPr>
          <p:cNvSpPr txBox="1"/>
          <p:nvPr/>
        </p:nvSpPr>
        <p:spPr>
          <a:xfrm>
            <a:off x="1209370" y="5872467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SDPS Contents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7A3AFD61-B5D7-4B76-BE9E-E6695C5D56E4}"/>
              </a:ext>
            </a:extLst>
          </p:cNvPr>
          <p:cNvSpPr/>
          <p:nvPr/>
        </p:nvSpPr>
        <p:spPr>
          <a:xfrm>
            <a:off x="4542504" y="2315496"/>
            <a:ext cx="6445045" cy="2698955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 descr="High voltage">
            <a:extLst>
              <a:ext uri="{FF2B5EF4-FFF2-40B4-BE49-F238E27FC236}">
                <a16:creationId xmlns:a16="http://schemas.microsoft.com/office/drawing/2014/main" id="{63FAA6A6-657E-4CC0-8086-638E5B53B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7639" y="2433485"/>
            <a:ext cx="486697" cy="4866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5B31AD-C58A-41C7-AE2A-6C410FA012E5}"/>
              </a:ext>
            </a:extLst>
          </p:cNvPr>
          <p:cNvSpPr txBox="1"/>
          <p:nvPr/>
        </p:nvSpPr>
        <p:spPr>
          <a:xfrm>
            <a:off x="5353667" y="2477419"/>
            <a:ext cx="3451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Flash SDPS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735E94-366A-40A9-A1AC-3F66B2424E51}"/>
              </a:ext>
            </a:extLst>
          </p:cNvPr>
          <p:cNvSpPr txBox="1"/>
          <p:nvPr/>
        </p:nvSpPr>
        <p:spPr>
          <a:xfrm>
            <a:off x="4827638" y="3038171"/>
            <a:ext cx="59239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 flash SDPS is an alternate version of SDPS which is created in following circumstances when a quick project planning is needed</a:t>
            </a:r>
          </a:p>
          <a:p>
            <a:pPr marL="342900" indent="-342900">
              <a:buAutoNum type="arabicPeriod"/>
            </a:pPr>
            <a:r>
              <a:rPr lang="en-US" sz="1600" dirty="0"/>
              <a:t>Project duration is less than or equal to 4 Weeks, use Flash SDPS instead of regular SDPS.</a:t>
            </a:r>
          </a:p>
          <a:p>
            <a:pPr marL="342900" indent="-342900">
              <a:buAutoNum type="arabicPeriod"/>
            </a:pPr>
            <a:r>
              <a:rPr lang="en-US" sz="1600" dirty="0"/>
              <a:t>project planning may take more than 3 weeks, then create Flash SDPS until regular SDPS is created.</a:t>
            </a:r>
          </a:p>
        </p:txBody>
      </p:sp>
    </p:spTree>
    <p:extLst>
      <p:ext uri="{BB962C8B-B14F-4D97-AF65-F5344CB8AC3E}">
        <p14:creationId xmlns:p14="http://schemas.microsoft.com/office/powerpoint/2010/main" val="4082597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62D2FD5E-5F44-4D3E-AE3B-6F39CC74F1C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4BB846F-3D53-49C6-BB0C-18F7F705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defTabSz="1088499"/>
            <a:fld id="{C9C5368D-7FF2-49BD-AC76-A9E58FB7F250}" type="datetime1">
              <a:rPr lang="en-US">
                <a:solidFill>
                  <a:prstClr val="white"/>
                </a:solidFill>
              </a:rPr>
              <a:pPr defTabSz="1088499"/>
              <a:t>1/7/2020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defTabSz="1088499"/>
            <a:fld id="{19A725F3-83D0-4529-A15C-9D644B8C51E0}" type="slidenum">
              <a:rPr lang="en-US">
                <a:solidFill>
                  <a:prstClr val="white"/>
                </a:solidFill>
              </a:rPr>
              <a:pPr defTabSz="1088499"/>
              <a:t>45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344802"/>
      </p:ext>
    </p:extLst>
  </p:cSld>
  <p:clrMapOvr>
    <a:masterClrMapping/>
  </p:clrMapOvr>
</p:sld>
</file>

<file path=ppt/theme/theme1.xml><?xml version="1.0" encoding="utf-8"?>
<a:theme xmlns:a="http://schemas.openxmlformats.org/drawingml/2006/main" name="KPIT">
  <a:themeElements>
    <a:clrScheme name="KPIT Colour Palette">
      <a:dk1>
        <a:srgbClr val="161718"/>
      </a:dk1>
      <a:lt1>
        <a:srgbClr val="FFFFFF"/>
      </a:lt1>
      <a:dk2>
        <a:srgbClr val="4D5154"/>
      </a:dk2>
      <a:lt2>
        <a:srgbClr val="E6E7E8"/>
      </a:lt2>
      <a:accent1>
        <a:srgbClr val="B0FF45"/>
      </a:accent1>
      <a:accent2>
        <a:srgbClr val="8FDB00"/>
      </a:accent2>
      <a:accent3>
        <a:srgbClr val="428003"/>
      </a:accent3>
      <a:accent4>
        <a:srgbClr val="753DFF"/>
      </a:accent4>
      <a:accent5>
        <a:srgbClr val="622AD8"/>
      </a:accent5>
      <a:accent6>
        <a:srgbClr val="7F7F7F"/>
      </a:accent6>
      <a:hlink>
        <a:srgbClr val="753DFF"/>
      </a:hlink>
      <a:folHlink>
        <a:srgbClr val="A5A5A5"/>
      </a:folHlink>
    </a:clrScheme>
    <a:fontScheme name="KPIT">
      <a:majorFont>
        <a:latin typeface="Work Sans Medium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KPIT Master Presentation Template.pptx" id="{831EAE04-FDB3-40D1-B3F0-0AB49EDE2883}" vid="{BEE50286-666B-43E4-893A-1C5EF2E89954}"/>
    </a:ext>
  </a:extLst>
</a:theme>
</file>

<file path=ppt/theme/theme2.xml><?xml version="1.0" encoding="utf-8"?>
<a:theme xmlns:a="http://schemas.openxmlformats.org/drawingml/2006/main" name="1_KPIT">
  <a:themeElements>
    <a:clrScheme name="KPIT Colour Palette">
      <a:dk1>
        <a:srgbClr val="161718"/>
      </a:dk1>
      <a:lt1>
        <a:srgbClr val="FFFFFF"/>
      </a:lt1>
      <a:dk2>
        <a:srgbClr val="4D5154"/>
      </a:dk2>
      <a:lt2>
        <a:srgbClr val="E6E7E8"/>
      </a:lt2>
      <a:accent1>
        <a:srgbClr val="B0FF45"/>
      </a:accent1>
      <a:accent2>
        <a:srgbClr val="8FDB00"/>
      </a:accent2>
      <a:accent3>
        <a:srgbClr val="428003"/>
      </a:accent3>
      <a:accent4>
        <a:srgbClr val="753DFF"/>
      </a:accent4>
      <a:accent5>
        <a:srgbClr val="622AD8"/>
      </a:accent5>
      <a:accent6>
        <a:srgbClr val="7F7F7F"/>
      </a:accent6>
      <a:hlink>
        <a:srgbClr val="753DFF"/>
      </a:hlink>
      <a:folHlink>
        <a:srgbClr val="A5A5A5"/>
      </a:folHlink>
    </a:clrScheme>
    <a:fontScheme name="KPIT">
      <a:majorFont>
        <a:latin typeface="Work Sans Medium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_Template.potx" id="{EC1C2989-5ED9-492E-ACEE-801C464CEE49}" vid="{81ED022E-040A-4949-B352-FF86EFC9259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0a05cdcd-130f-48f6-90e6-4493bf924d97" Revision="1" Stencil="System.MyShapes" StencilVersion="1.0"/>
</Control>
</file>

<file path=customXml/itemProps1.xml><?xml version="1.0" encoding="utf-8"?>
<ds:datastoreItem xmlns:ds="http://schemas.openxmlformats.org/officeDocument/2006/customXml" ds:itemID="{CB408D2F-75FF-47D3-9C66-A6483CEBE7BD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</Template>
  <TotalTime>6951</TotalTime>
  <Words>2867</Words>
  <Application>Microsoft Office PowerPoint</Application>
  <PresentationFormat>Widescreen</PresentationFormat>
  <Paragraphs>544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Segoe UI</vt:lpstr>
      <vt:lpstr>Work Sans</vt:lpstr>
      <vt:lpstr>Work Sans Light</vt:lpstr>
      <vt:lpstr>Work Sans Medium</vt:lpstr>
      <vt:lpstr>KPIT</vt:lpstr>
      <vt:lpstr>1_KPIT</vt:lpstr>
      <vt:lpstr>Basic Software Development Process Methodology  Unit 2 – PROCESS AND EPMN</vt:lpstr>
      <vt:lpstr>Topics</vt:lpstr>
      <vt:lpstr>Introduction</vt:lpstr>
      <vt:lpstr>EPMN</vt:lpstr>
      <vt:lpstr>EPMN</vt:lpstr>
      <vt:lpstr>EPMN</vt:lpstr>
      <vt:lpstr>EPMN</vt:lpstr>
      <vt:lpstr>EPMN</vt:lpstr>
      <vt:lpstr>Drawing vs Modelling</vt:lpstr>
      <vt:lpstr>EPMN Visio Plug-In</vt:lpstr>
      <vt:lpstr>Introduction to Visio</vt:lpstr>
      <vt:lpstr>Introduction to EPMN Plug-In</vt:lpstr>
      <vt:lpstr>Introduction to EPMN Plug-In – File Operations</vt:lpstr>
      <vt:lpstr>Introduction to EPMN Plug-In – Modelling Operations</vt:lpstr>
      <vt:lpstr>Introduction to EPMN Plug-In – Help Operations</vt:lpstr>
      <vt:lpstr>EPMN Shapes - Objects</vt:lpstr>
      <vt:lpstr>How to Read</vt:lpstr>
      <vt:lpstr>Uniphase</vt:lpstr>
      <vt:lpstr>Activity</vt:lpstr>
      <vt:lpstr>Artefact</vt:lpstr>
      <vt:lpstr>Guidance</vt:lpstr>
      <vt:lpstr>Role</vt:lpstr>
      <vt:lpstr>PowerPoint Presentation</vt:lpstr>
      <vt:lpstr>Control Flow</vt:lpstr>
      <vt:lpstr>Control Flow - Example</vt:lpstr>
      <vt:lpstr>Data Flow</vt:lpstr>
      <vt:lpstr>Data Flow - Example</vt:lpstr>
      <vt:lpstr>RASIC Flow</vt:lpstr>
      <vt:lpstr>RASIC Flow - Example</vt:lpstr>
      <vt:lpstr>PowerPoint Presentation</vt:lpstr>
      <vt:lpstr>Start Gate</vt:lpstr>
      <vt:lpstr>End Gate</vt:lpstr>
      <vt:lpstr>AND Gate</vt:lpstr>
      <vt:lpstr>Gates Example</vt:lpstr>
      <vt:lpstr>OR Gate</vt:lpstr>
      <vt:lpstr>Gates Example Cont..</vt:lpstr>
      <vt:lpstr>XOR Gate</vt:lpstr>
      <vt:lpstr>Gates Example Cont. … </vt:lpstr>
      <vt:lpstr>PowerPoint Presentation</vt:lpstr>
      <vt:lpstr>Note</vt:lpstr>
      <vt:lpstr>Lane (of association)</vt:lpstr>
      <vt:lpstr>Lanes Example</vt:lpstr>
      <vt:lpstr>Setting Process in SDPS</vt:lpstr>
      <vt:lpstr>SDPS</vt:lpstr>
      <vt:lpstr>Thank You</vt:lpstr>
    </vt:vector>
  </TitlesOfParts>
  <Company>KPIT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SDPM Process and EPMN</dc:title>
  <dc:creator>KPIT Technologies</dc:creator>
  <dc:description>Config ID: CGSPGAPA PA 006_x000d_
_x000d_
Refer Revision History.txt for details</dc:description>
  <cp:lastModifiedBy>Kavitha Buradagunta</cp:lastModifiedBy>
  <cp:revision>272</cp:revision>
  <dcterms:created xsi:type="dcterms:W3CDTF">2018-07-11T06:08:27Z</dcterms:created>
  <dcterms:modified xsi:type="dcterms:W3CDTF">2020-01-07T06:50:00Z</dcterms:modified>
</cp:coreProperties>
</file>